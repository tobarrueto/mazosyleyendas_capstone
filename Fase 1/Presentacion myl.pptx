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Lst>
  <p:sldSz cy="5143500" cx="9144000"/>
  <p:notesSz cx="5143500" cy="9144000"/>
  <p:embeddedFontLst>
    <p:embeddedFont>
      <p:font typeface="Roboto Mono Medium"/>
      <p:regular r:id="rId19"/>
      <p:bold r:id="rId20"/>
      <p:italic r:id="rId21"/>
      <p:boldItalic r:id="rId22"/>
    </p:embeddedFont>
    <p:embeddedFont>
      <p:font typeface="Roboto"/>
      <p:regular r:id="rId23"/>
      <p:bold r:id="rId24"/>
      <p:italic r:id="rId25"/>
      <p:boldItalic r:id="rId26"/>
    </p:embeddedFont>
    <p:embeddedFont>
      <p:font typeface="Roboto Mono Light"/>
      <p:regular r:id="rId27"/>
      <p:bold r:id="rId28"/>
      <p:italic r:id="rId29"/>
      <p:boldItalic r:id="rId3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1" roundtripDataSignature="AMtx7mjJo0yQdaJ/wn4WIU7eD5qSXydcU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B55EB79-0341-487C-AD29-4228F110DB47}">
  <a:tblStyle styleId="{DB55EB79-0341-487C-AD29-4228F110DB47}"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RobotoMonoMedium-bold.fntdata"/><Relationship Id="rId22" Type="http://schemas.openxmlformats.org/officeDocument/2006/relationships/font" Target="fonts/RobotoMonoMedium-boldItalic.fntdata"/><Relationship Id="rId21" Type="http://schemas.openxmlformats.org/officeDocument/2006/relationships/font" Target="fonts/RobotoMonoMedium-italic.fntdata"/><Relationship Id="rId24" Type="http://schemas.openxmlformats.org/officeDocument/2006/relationships/font" Target="fonts/Roboto-bold.fntdata"/><Relationship Id="rId23" Type="http://schemas.openxmlformats.org/officeDocument/2006/relationships/font" Target="fonts/Roboto-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oboto-boldItalic.fntdata"/><Relationship Id="rId25" Type="http://schemas.openxmlformats.org/officeDocument/2006/relationships/font" Target="fonts/Roboto-italic.fntdata"/><Relationship Id="rId28" Type="http://schemas.openxmlformats.org/officeDocument/2006/relationships/font" Target="fonts/RobotoMonoLight-bold.fntdata"/><Relationship Id="rId27" Type="http://schemas.openxmlformats.org/officeDocument/2006/relationships/font" Target="fonts/RobotoMonoLight-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RobotoMonoLight-italic.fntdata"/><Relationship Id="rId7" Type="http://schemas.openxmlformats.org/officeDocument/2006/relationships/slide" Target="slides/slide2.xml"/><Relationship Id="rId8" Type="http://schemas.openxmlformats.org/officeDocument/2006/relationships/slide" Target="slides/slide3.xml"/><Relationship Id="rId31" Type="http://customschemas.google.com/relationships/presentationmetadata" Target="metadata"/><Relationship Id="rId30" Type="http://schemas.openxmlformats.org/officeDocument/2006/relationships/font" Target="fonts/RobotoMonoLight-boldItalic.fnt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font" Target="fonts/RobotoMonoMedium-regular.fntdata"/><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 name="Shape 15"/>
        <p:cNvGrpSpPr/>
        <p:nvPr/>
      </p:nvGrpSpPr>
      <p:grpSpPr>
        <a:xfrm>
          <a:off x="0" y="0"/>
          <a:ext cx="0" cy="0"/>
          <a:chOff x="0" y="0"/>
          <a:chExt cx="0" cy="0"/>
        </a:xfrm>
      </p:grpSpPr>
      <p:sp>
        <p:nvSpPr>
          <p:cNvPr id="16" name="Google Shape;1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 name="Google Shape;17;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 name="Google Shape;18;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 name="Shape 24"/>
        <p:cNvGrpSpPr/>
        <p:nvPr/>
      </p:nvGrpSpPr>
      <p:grpSpPr>
        <a:xfrm>
          <a:off x="0" y="0"/>
          <a:ext cx="0" cy="0"/>
          <a:chOff x="0" y="0"/>
          <a:chExt cx="0" cy="0"/>
        </a:xfrm>
      </p:grpSpPr>
      <p:sp>
        <p:nvSpPr>
          <p:cNvPr id="25" name="Google Shape;2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 name="Google Shape;26;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7" name="Google Shape;27;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 name="Shape 58"/>
        <p:cNvGrpSpPr/>
        <p:nvPr/>
      </p:nvGrpSpPr>
      <p:grpSpPr>
        <a:xfrm>
          <a:off x="0" y="0"/>
          <a:ext cx="0" cy="0"/>
          <a:chOff x="0" y="0"/>
          <a:chExt cx="0" cy="0"/>
        </a:xfrm>
      </p:grpSpPr>
      <p:sp>
        <p:nvSpPr>
          <p:cNvPr id="59" name="Google Shape;5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0" name="Google Shape;6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61" name="Google Shape;6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 name="Shape 76"/>
        <p:cNvGrpSpPr/>
        <p:nvPr/>
      </p:nvGrpSpPr>
      <p:grpSpPr>
        <a:xfrm>
          <a:off x="0" y="0"/>
          <a:ext cx="0" cy="0"/>
          <a:chOff x="0" y="0"/>
          <a:chExt cx="0" cy="0"/>
        </a:xfrm>
      </p:grpSpPr>
      <p:sp>
        <p:nvSpPr>
          <p:cNvPr id="77" name="Google Shape;77;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8" name="Google Shape;78;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79" name="Google Shape;79;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96" name="Google Shape;96;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97" name="Google Shape;97;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13" name="Google Shape;11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39" name="Google Shape;13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45" name="Google Shape;145;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46" name="Google Shape;146;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59" name="Google Shape;159;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7" name="Google Shape;187;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88" name="Google Shape;188;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1" name="Google Shape;211;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12" name="Google Shape;212;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24" name="Google Shape;22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2" name="Shape 242"/>
        <p:cNvGrpSpPr/>
        <p:nvPr/>
      </p:nvGrpSpPr>
      <p:grpSpPr>
        <a:xfrm>
          <a:off x="0" y="0"/>
          <a:ext cx="0" cy="0"/>
          <a:chOff x="0" y="0"/>
          <a:chExt cx="0" cy="0"/>
        </a:xfrm>
      </p:grpSpPr>
      <p:sp>
        <p:nvSpPr>
          <p:cNvPr id="243" name="Google Shape;24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4" name="Google Shape;24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245" name="Google Shape;24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lnSpc>
                <a:spcPct val="100000"/>
              </a:lnSpc>
              <a:spcBef>
                <a:spcPts val="0"/>
              </a:spcBef>
              <a:spcAft>
                <a:spcPts val="0"/>
              </a:spcAft>
              <a:buSzPts val="1400"/>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gamma.app/?utm_source=made-with-gamma" TargetMode="External"/><Relationship Id="rId3" Type="http://schemas.openxmlformats.org/officeDocument/2006/relationships/image" Target="../media/image9.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lide master 1">
  <p:cSld name="Slide master 1">
    <p:bg>
      <p:bgPr>
        <a:solidFill>
          <a:srgbClr val="000000"/>
        </a:solidFill>
      </p:bgPr>
    </p:bg>
    <p:spTree>
      <p:nvGrpSpPr>
        <p:cNvPr id="10" name="Shape 10"/>
        <p:cNvGrpSpPr/>
        <p:nvPr/>
      </p:nvGrpSpPr>
      <p:grpSpPr>
        <a:xfrm>
          <a:off x="0" y="0"/>
          <a:ext cx="0" cy="0"/>
          <a:chOff x="0" y="0"/>
          <a:chExt cx="0" cy="0"/>
        </a:xfrm>
      </p:grpSpPr>
      <p:sp>
        <p:nvSpPr>
          <p:cNvPr id="11" name="Google Shape;11;p15"/>
          <p:cNvSpPr/>
          <p:nvPr/>
        </p:nvSpPr>
        <p:spPr>
          <a:xfrm>
            <a:off x="0" y="0"/>
            <a:ext cx="9144000" cy="5143500"/>
          </a:xfrm>
          <a:prstGeom prst="rect">
            <a:avLst/>
          </a:prstGeom>
          <a:solidFill>
            <a:srgbClr val="010303"/>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15"/>
          <p:cNvSpPr/>
          <p:nvPr/>
        </p:nvSpPr>
        <p:spPr>
          <a:xfrm>
            <a:off x="0" y="0"/>
            <a:ext cx="9144000" cy="5143500"/>
          </a:xfrm>
          <a:prstGeom prst="rect">
            <a:avLst/>
          </a:prstGeom>
          <a:solidFill>
            <a:srgbClr val="21212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 name="Google Shape;13;p15">
            <a:hlinkClick r:id="rId2"/>
          </p:cNvPr>
          <p:cNvPicPr preferRelativeResize="0"/>
          <p:nvPr/>
        </p:nvPicPr>
        <p:blipFill rotWithShape="1">
          <a:blip r:embed="rId3">
            <a:alphaModFix/>
          </a:blip>
          <a:srcRect b="0" l="0" r="0" t="0"/>
          <a:stretch/>
        </p:blipFill>
        <p:spPr>
          <a:xfrm>
            <a:off x="8029180" y="4844491"/>
            <a:ext cx="1071843" cy="256032"/>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4" name="Shape 14"/>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7.png"/><Relationship Id="rId5" Type="http://schemas.openxmlformats.org/officeDocument/2006/relationships/image" Target="../media/image6.png"/><Relationship Id="rId6" Type="http://schemas.openxmlformats.org/officeDocument/2006/relationships/image" Target="../media/image5.png"/><Relationship Id="rId7"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0.png"/><Relationship Id="rId4" Type="http://schemas.openxmlformats.org/officeDocument/2006/relationships/image" Target="../media/image1.png"/><Relationship Id="rId5" Type="http://schemas.openxmlformats.org/officeDocument/2006/relationships/image" Target="../media/image8.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hyperlink" Target="http://bunny.net"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14.png"/><Relationship Id="rId5" Type="http://schemas.openxmlformats.org/officeDocument/2006/relationships/image" Target="../media/image19.png"/><Relationship Id="rId6" Type="http://schemas.openxmlformats.org/officeDocument/2006/relationships/image" Target="../media/image16.png"/><Relationship Id="rId7" Type="http://schemas.openxmlformats.org/officeDocument/2006/relationships/image" Target="../media/image18.png"/><Relationship Id="rId8" Type="http://schemas.openxmlformats.org/officeDocument/2006/relationships/image" Target="../media/image1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4.png"/><Relationship Id="rId4" Type="http://schemas.openxmlformats.org/officeDocument/2006/relationships/image" Target="../media/image21.png"/><Relationship Id="rId5" Type="http://schemas.openxmlformats.org/officeDocument/2006/relationships/image" Target="../media/image22.png"/><Relationship Id="rId6" Type="http://schemas.openxmlformats.org/officeDocument/2006/relationships/image" Target="../media/image20.png"/><Relationship Id="rId7" Type="http://schemas.openxmlformats.org/officeDocument/2006/relationships/image" Target="../media/image3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9.png"/><Relationship Id="rId4" Type="http://schemas.openxmlformats.org/officeDocument/2006/relationships/image" Target="../media/image26.png"/><Relationship Id="rId5" Type="http://schemas.openxmlformats.org/officeDocument/2006/relationships/image" Target="../media/image25.png"/><Relationship Id="rId6" Type="http://schemas.openxmlformats.org/officeDocument/2006/relationships/image" Target="../media/image27.png"/><Relationship Id="rId7"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 name="Shape 19"/>
        <p:cNvGrpSpPr/>
        <p:nvPr/>
      </p:nvGrpSpPr>
      <p:grpSpPr>
        <a:xfrm>
          <a:off x="0" y="0"/>
          <a:ext cx="0" cy="0"/>
          <a:chOff x="0" y="0"/>
          <a:chExt cx="0" cy="0"/>
        </a:xfrm>
      </p:grpSpPr>
      <p:pic>
        <p:nvPicPr>
          <p:cNvPr descr="preencoded.png" id="20" name="Google Shape;20;p1"/>
          <p:cNvPicPr preferRelativeResize="0"/>
          <p:nvPr/>
        </p:nvPicPr>
        <p:blipFill rotWithShape="1">
          <a:blip r:embed="rId3">
            <a:alphaModFix/>
          </a:blip>
          <a:srcRect b="0" l="0" r="0" t="0"/>
          <a:stretch/>
        </p:blipFill>
        <p:spPr>
          <a:xfrm>
            <a:off x="496119" y="1146200"/>
            <a:ext cx="8151763" cy="1442814"/>
          </a:xfrm>
          <a:prstGeom prst="rect">
            <a:avLst/>
          </a:prstGeom>
          <a:noFill/>
          <a:ln>
            <a:noFill/>
          </a:ln>
        </p:spPr>
      </p:pic>
      <p:sp>
        <p:nvSpPr>
          <p:cNvPr id="21" name="Google Shape;21;p1"/>
          <p:cNvSpPr/>
          <p:nvPr/>
        </p:nvSpPr>
        <p:spPr>
          <a:xfrm>
            <a:off x="496119" y="2748483"/>
            <a:ext cx="8151763" cy="613097"/>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chemeClr val="dk1"/>
              </a:buClr>
              <a:buSzPts val="1100"/>
              <a:buFont typeface="Calibri"/>
              <a:buNone/>
            </a:pPr>
            <a:r>
              <a:t/>
            </a:r>
            <a:endParaRPr b="0" i="0" sz="1100" u="none" cap="none" strike="noStrike">
              <a:solidFill>
                <a:schemeClr val="dk1"/>
              </a:solidFill>
              <a:latin typeface="Calibri"/>
              <a:ea typeface="Calibri"/>
              <a:cs typeface="Calibri"/>
              <a:sym typeface="Calibri"/>
            </a:endParaRPr>
          </a:p>
          <a:p>
            <a:pPr indent="0" lvl="0" marL="0" marR="0" rtl="0" algn="l">
              <a:lnSpc>
                <a:spcPct val="133000"/>
              </a:lnSpc>
              <a:spcBef>
                <a:spcPts val="1250"/>
              </a:spcBef>
              <a:spcAft>
                <a:spcPts val="0"/>
              </a:spcAft>
              <a:buClr>
                <a:srgbClr val="E5E0DF"/>
              </a:buClr>
              <a:buSzPts val="1100"/>
              <a:buFont typeface="Roboto"/>
              <a:buNone/>
            </a:pPr>
            <a:r>
              <a:rPr b="1" i="0" lang="en-US" sz="1100" u="none" cap="none" strike="noStrike">
                <a:solidFill>
                  <a:srgbClr val="E5E0DF"/>
                </a:solidFill>
                <a:latin typeface="Roboto"/>
                <a:ea typeface="Roboto"/>
                <a:cs typeface="Roboto"/>
                <a:sym typeface="Roboto"/>
              </a:rPr>
              <a:t>Mazosyleyendas.cl</a:t>
            </a:r>
            <a:r>
              <a:rPr b="0" i="0" lang="en-US" sz="1100" u="none" cap="none" strike="noStrike">
                <a:solidFill>
                  <a:srgbClr val="E5E0DF"/>
                </a:solidFill>
                <a:latin typeface="Roboto"/>
                <a:ea typeface="Roboto"/>
                <a:cs typeface="Roboto"/>
                <a:sym typeface="Roboto"/>
              </a:rPr>
              <a:t> — Plataforma Web de Catálogo, Deckbuilding, Trazabilidad de Productos e Inteligencia de Metagame para TCG</a:t>
            </a:r>
            <a:endParaRPr b="0" i="0" sz="1100" u="none" cap="none" strike="noStrike">
              <a:solidFill>
                <a:schemeClr val="dk1"/>
              </a:solidFill>
              <a:latin typeface="Calibri"/>
              <a:ea typeface="Calibri"/>
              <a:cs typeface="Calibri"/>
              <a:sym typeface="Calibri"/>
            </a:endParaRPr>
          </a:p>
        </p:txBody>
      </p:sp>
      <p:sp>
        <p:nvSpPr>
          <p:cNvPr id="22" name="Google Shape;22;p1"/>
          <p:cNvSpPr/>
          <p:nvPr/>
        </p:nvSpPr>
        <p:spPr>
          <a:xfrm>
            <a:off x="496119" y="3556471"/>
            <a:ext cx="8151763" cy="19050"/>
          </a:xfrm>
          <a:prstGeom prst="roundRect">
            <a:avLst>
              <a:gd fmla="val 50000" name="adj"/>
            </a:avLst>
          </a:prstGeom>
          <a:solidFill>
            <a:srgbClr val="E5E0DF">
              <a:alpha val="50196"/>
            </a:srgbClr>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1"/>
          <p:cNvSpPr/>
          <p:nvPr/>
        </p:nvSpPr>
        <p:spPr>
          <a:xfrm>
            <a:off x="496119" y="3770412"/>
            <a:ext cx="8608963"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Escuela de Informática y Telecomunicaciones · Ingeniería en Informática · Asignatura: Capstone</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 name="Shape 28"/>
        <p:cNvGrpSpPr/>
        <p:nvPr/>
      </p:nvGrpSpPr>
      <p:grpSpPr>
        <a:xfrm>
          <a:off x="0" y="0"/>
          <a:ext cx="0" cy="0"/>
          <a:chOff x="0" y="0"/>
          <a:chExt cx="0" cy="0"/>
        </a:xfrm>
      </p:grpSpPr>
      <p:sp>
        <p:nvSpPr>
          <p:cNvPr id="29" name="Google Shape;29;p2"/>
          <p:cNvSpPr/>
          <p:nvPr/>
        </p:nvSpPr>
        <p:spPr>
          <a:xfrm>
            <a:off x="496119" y="432271"/>
            <a:ext cx="1057275" cy="201364"/>
          </a:xfrm>
          <a:prstGeom prst="roundRect">
            <a:avLst>
              <a:gd fmla="val 7901"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p2"/>
          <p:cNvSpPr/>
          <p:nvPr/>
        </p:nvSpPr>
        <p:spPr>
          <a:xfrm>
            <a:off x="575593" y="472008"/>
            <a:ext cx="1355527" cy="121890"/>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800"/>
              <a:buFont typeface="Roboto"/>
              <a:buNone/>
            </a:pPr>
            <a:r>
              <a:rPr b="0" i="0" lang="en-US" sz="800" u="none" cap="none" strike="noStrike">
                <a:solidFill>
                  <a:srgbClr val="DCFF50"/>
                </a:solidFill>
                <a:latin typeface="Roboto"/>
                <a:ea typeface="Roboto"/>
                <a:cs typeface="Roboto"/>
                <a:sym typeface="Roboto"/>
              </a:rPr>
              <a:t>TOMAS BARRUETO</a:t>
            </a:r>
            <a:endParaRPr b="0" i="0" sz="800" u="none" cap="none" strike="noStrike">
              <a:solidFill>
                <a:schemeClr val="dk1"/>
              </a:solidFill>
              <a:latin typeface="Calibri"/>
              <a:ea typeface="Calibri"/>
              <a:cs typeface="Calibri"/>
              <a:sym typeface="Calibri"/>
            </a:endParaRPr>
          </a:p>
        </p:txBody>
      </p:sp>
      <p:sp>
        <p:nvSpPr>
          <p:cNvPr id="31" name="Google Shape;31;p2"/>
          <p:cNvSpPr/>
          <p:nvPr/>
        </p:nvSpPr>
        <p:spPr>
          <a:xfrm>
            <a:off x="496119" y="683196"/>
            <a:ext cx="8151763" cy="41426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450"/>
              <a:buFont typeface="Roboto Mono Medium"/>
              <a:buNone/>
            </a:pPr>
            <a:r>
              <a:rPr b="0" i="0" lang="en-US" sz="2450" u="none" cap="none" strike="noStrike">
                <a:solidFill>
                  <a:srgbClr val="FFFFFF"/>
                </a:solidFill>
                <a:latin typeface="Roboto Mono Medium"/>
                <a:ea typeface="Roboto Mono Medium"/>
                <a:cs typeface="Roboto Mono Medium"/>
                <a:sym typeface="Roboto Mono Medium"/>
              </a:rPr>
              <a:t>Encargado del Desarrollo del Proyecto</a:t>
            </a:r>
            <a:endParaRPr b="0" i="0" sz="2450" u="none" cap="none" strike="noStrike">
              <a:solidFill>
                <a:schemeClr val="dk1"/>
              </a:solidFill>
              <a:latin typeface="Calibri"/>
              <a:ea typeface="Calibri"/>
              <a:cs typeface="Calibri"/>
              <a:sym typeface="Calibri"/>
            </a:endParaRPr>
          </a:p>
        </p:txBody>
      </p:sp>
      <p:sp>
        <p:nvSpPr>
          <p:cNvPr id="32" name="Google Shape;32;p2"/>
          <p:cNvSpPr/>
          <p:nvPr/>
        </p:nvSpPr>
        <p:spPr>
          <a:xfrm>
            <a:off x="496119" y="1283419"/>
            <a:ext cx="8608963" cy="205234"/>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Proyecto concebido, diseñado y ejecutado </a:t>
            </a:r>
            <a:r>
              <a:rPr b="1" i="0" lang="en-US" sz="1000" u="none" cap="none" strike="noStrike">
                <a:solidFill>
                  <a:srgbClr val="E5E0DF"/>
                </a:solidFill>
                <a:latin typeface="Roboto"/>
                <a:ea typeface="Roboto"/>
                <a:cs typeface="Roboto"/>
                <a:sym typeface="Roboto"/>
              </a:rPr>
              <a:t>100% de forma individual</a:t>
            </a:r>
            <a:r>
              <a:rPr b="0" i="0" lang="en-US" sz="1000" u="none" cap="none" strike="noStrike">
                <a:solidFill>
                  <a:srgbClr val="E5E0DF"/>
                </a:solidFill>
                <a:latin typeface="Roboto"/>
                <a:ea typeface="Roboto"/>
                <a:cs typeface="Roboto"/>
                <a:sym typeface="Roboto"/>
              </a:rPr>
              <a:t>, cubriendo todas las capas del stack tecnológico.</a:t>
            </a:r>
            <a:endParaRPr b="0" i="0" sz="1000" u="none" cap="none" strike="noStrike">
              <a:solidFill>
                <a:schemeClr val="dk1"/>
              </a:solidFill>
              <a:latin typeface="Calibri"/>
              <a:ea typeface="Calibri"/>
              <a:cs typeface="Calibri"/>
              <a:sym typeface="Calibri"/>
            </a:endParaRPr>
          </a:p>
        </p:txBody>
      </p:sp>
      <p:sp>
        <p:nvSpPr>
          <p:cNvPr id="33" name="Google Shape;33;p2"/>
          <p:cNvSpPr/>
          <p:nvPr/>
        </p:nvSpPr>
        <p:spPr>
          <a:xfrm>
            <a:off x="496119" y="1628105"/>
            <a:ext cx="2634555" cy="1685702"/>
          </a:xfrm>
          <a:prstGeom prst="roundRect">
            <a:avLst>
              <a:gd fmla="val 118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2"/>
          <p:cNvSpPr/>
          <p:nvPr/>
        </p:nvSpPr>
        <p:spPr>
          <a:xfrm>
            <a:off x="628650" y="1760637"/>
            <a:ext cx="397669" cy="397669"/>
          </a:xfrm>
          <a:prstGeom prst="ellipse">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 name="Google Shape;35;p2"/>
          <p:cNvPicPr preferRelativeResize="0"/>
          <p:nvPr/>
        </p:nvPicPr>
        <p:blipFill rotWithShape="1">
          <a:blip r:embed="rId3">
            <a:alphaModFix/>
          </a:blip>
          <a:srcRect b="0" l="0" r="0" t="0"/>
          <a:stretch/>
        </p:blipFill>
        <p:spPr>
          <a:xfrm>
            <a:off x="737964" y="1869951"/>
            <a:ext cx="178966" cy="178966"/>
          </a:xfrm>
          <a:prstGeom prst="rect">
            <a:avLst/>
          </a:prstGeom>
          <a:noFill/>
          <a:ln>
            <a:noFill/>
          </a:ln>
        </p:spPr>
      </p:pic>
      <p:sp>
        <p:nvSpPr>
          <p:cNvPr id="36" name="Google Shape;36;p2"/>
          <p:cNvSpPr/>
          <p:nvPr/>
        </p:nvSpPr>
        <p:spPr>
          <a:xfrm>
            <a:off x="628650" y="2282279"/>
            <a:ext cx="2369493" cy="41418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200"/>
              <a:buFont typeface="Roboto Mono Medium"/>
              <a:buNone/>
            </a:pPr>
            <a:r>
              <a:rPr b="0" i="0" lang="en-US" sz="1200" u="none" cap="none" strike="noStrike">
                <a:solidFill>
                  <a:srgbClr val="E5E0DF"/>
                </a:solidFill>
                <a:latin typeface="Roboto Mono Medium"/>
                <a:ea typeface="Roboto Mono Medium"/>
                <a:cs typeface="Roboto Mono Medium"/>
                <a:sym typeface="Roboto Mono Medium"/>
              </a:rPr>
              <a:t>Concepción e Investigación</a:t>
            </a:r>
            <a:endParaRPr b="0" i="0" sz="1200" u="none" cap="none" strike="noStrike">
              <a:solidFill>
                <a:schemeClr val="dk1"/>
              </a:solidFill>
              <a:latin typeface="Calibri"/>
              <a:ea typeface="Calibri"/>
              <a:cs typeface="Calibri"/>
              <a:sym typeface="Calibri"/>
            </a:endParaRPr>
          </a:p>
        </p:txBody>
      </p:sp>
      <p:sp>
        <p:nvSpPr>
          <p:cNvPr id="37" name="Google Shape;37;p2"/>
          <p:cNvSpPr/>
          <p:nvPr/>
        </p:nvSpPr>
        <p:spPr>
          <a:xfrm>
            <a:off x="628650" y="2770808"/>
            <a:ext cx="2369493" cy="4104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Identificación del problema comunitario y definición de lógica de negocio TCG.</a:t>
            </a:r>
            <a:endParaRPr b="0" i="0" sz="1000" u="none" cap="none" strike="noStrike">
              <a:solidFill>
                <a:schemeClr val="dk1"/>
              </a:solidFill>
              <a:latin typeface="Calibri"/>
              <a:ea typeface="Calibri"/>
              <a:cs typeface="Calibri"/>
              <a:sym typeface="Calibri"/>
            </a:endParaRPr>
          </a:p>
        </p:txBody>
      </p:sp>
      <p:sp>
        <p:nvSpPr>
          <p:cNvPr id="38" name="Google Shape;38;p2"/>
          <p:cNvSpPr/>
          <p:nvPr/>
        </p:nvSpPr>
        <p:spPr>
          <a:xfrm>
            <a:off x="3254648" y="1628105"/>
            <a:ext cx="2634630" cy="1685702"/>
          </a:xfrm>
          <a:prstGeom prst="roundRect">
            <a:avLst>
              <a:gd fmla="val 118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2"/>
          <p:cNvSpPr/>
          <p:nvPr/>
        </p:nvSpPr>
        <p:spPr>
          <a:xfrm>
            <a:off x="3387179" y="1760637"/>
            <a:ext cx="397669" cy="397669"/>
          </a:xfrm>
          <a:prstGeom prst="ellipse">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 name="Google Shape;40;p2"/>
          <p:cNvPicPr preferRelativeResize="0"/>
          <p:nvPr/>
        </p:nvPicPr>
        <p:blipFill rotWithShape="1">
          <a:blip r:embed="rId4">
            <a:alphaModFix/>
          </a:blip>
          <a:srcRect b="0" l="0" r="0" t="0"/>
          <a:stretch/>
        </p:blipFill>
        <p:spPr>
          <a:xfrm>
            <a:off x="3496494" y="1869951"/>
            <a:ext cx="178966" cy="178966"/>
          </a:xfrm>
          <a:prstGeom prst="rect">
            <a:avLst/>
          </a:prstGeom>
          <a:noFill/>
          <a:ln>
            <a:noFill/>
          </a:ln>
        </p:spPr>
      </p:pic>
      <p:sp>
        <p:nvSpPr>
          <p:cNvPr id="41" name="Google Shape;41;p2"/>
          <p:cNvSpPr/>
          <p:nvPr/>
        </p:nvSpPr>
        <p:spPr>
          <a:xfrm>
            <a:off x="3387179" y="2282279"/>
            <a:ext cx="2369567" cy="20709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200"/>
              <a:buFont typeface="Roboto Mono Medium"/>
              <a:buNone/>
            </a:pPr>
            <a:r>
              <a:rPr b="0" i="0" lang="en-US" sz="1200" u="none" cap="none" strike="noStrike">
                <a:solidFill>
                  <a:srgbClr val="E5E0DF"/>
                </a:solidFill>
                <a:latin typeface="Roboto Mono Medium"/>
                <a:ea typeface="Roboto Mono Medium"/>
                <a:cs typeface="Roboto Mono Medium"/>
                <a:sym typeface="Roboto Mono Medium"/>
              </a:rPr>
              <a:t>Frontend &amp; UI/UX</a:t>
            </a:r>
            <a:endParaRPr b="0" i="0" sz="1200" u="none" cap="none" strike="noStrike">
              <a:solidFill>
                <a:schemeClr val="dk1"/>
              </a:solidFill>
              <a:latin typeface="Calibri"/>
              <a:ea typeface="Calibri"/>
              <a:cs typeface="Calibri"/>
              <a:sym typeface="Calibri"/>
            </a:endParaRPr>
          </a:p>
        </p:txBody>
      </p:sp>
      <p:sp>
        <p:nvSpPr>
          <p:cNvPr id="42" name="Google Shape;42;p2"/>
          <p:cNvSpPr/>
          <p:nvPr/>
        </p:nvSpPr>
        <p:spPr>
          <a:xfrm>
            <a:off x="3387179" y="2563713"/>
            <a:ext cx="2369567" cy="4104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Diseño responsivo con Next.js y Tailwind CSS.</a:t>
            </a:r>
            <a:endParaRPr b="0" i="0" sz="1000" u="none" cap="none" strike="noStrike">
              <a:solidFill>
                <a:schemeClr val="dk1"/>
              </a:solidFill>
              <a:latin typeface="Calibri"/>
              <a:ea typeface="Calibri"/>
              <a:cs typeface="Calibri"/>
              <a:sym typeface="Calibri"/>
            </a:endParaRPr>
          </a:p>
        </p:txBody>
      </p:sp>
      <p:sp>
        <p:nvSpPr>
          <p:cNvPr id="43" name="Google Shape;43;p2"/>
          <p:cNvSpPr/>
          <p:nvPr/>
        </p:nvSpPr>
        <p:spPr>
          <a:xfrm>
            <a:off x="6013252" y="1628105"/>
            <a:ext cx="2634555" cy="1685702"/>
          </a:xfrm>
          <a:prstGeom prst="roundRect">
            <a:avLst>
              <a:gd fmla="val 118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2"/>
          <p:cNvSpPr/>
          <p:nvPr/>
        </p:nvSpPr>
        <p:spPr>
          <a:xfrm>
            <a:off x="6145783" y="1760637"/>
            <a:ext cx="397669" cy="397669"/>
          </a:xfrm>
          <a:prstGeom prst="ellipse">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 name="Google Shape;45;p2"/>
          <p:cNvPicPr preferRelativeResize="0"/>
          <p:nvPr/>
        </p:nvPicPr>
        <p:blipFill rotWithShape="1">
          <a:blip r:embed="rId5">
            <a:alphaModFix/>
          </a:blip>
          <a:srcRect b="0" l="0" r="0" t="0"/>
          <a:stretch/>
        </p:blipFill>
        <p:spPr>
          <a:xfrm>
            <a:off x="6255097" y="1869951"/>
            <a:ext cx="178966" cy="178966"/>
          </a:xfrm>
          <a:prstGeom prst="rect">
            <a:avLst/>
          </a:prstGeom>
          <a:noFill/>
          <a:ln>
            <a:noFill/>
          </a:ln>
        </p:spPr>
      </p:pic>
      <p:sp>
        <p:nvSpPr>
          <p:cNvPr id="46" name="Google Shape;46;p2"/>
          <p:cNvSpPr/>
          <p:nvPr/>
        </p:nvSpPr>
        <p:spPr>
          <a:xfrm>
            <a:off x="6145783" y="2282279"/>
            <a:ext cx="2369493" cy="20709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200"/>
              <a:buFont typeface="Roboto Mono Medium"/>
              <a:buNone/>
            </a:pPr>
            <a:r>
              <a:rPr b="0" i="0" lang="en-US" sz="1200" u="none" cap="none" strike="noStrike">
                <a:solidFill>
                  <a:srgbClr val="E5E0DF"/>
                </a:solidFill>
                <a:latin typeface="Roboto Mono Medium"/>
                <a:ea typeface="Roboto Mono Medium"/>
                <a:cs typeface="Roboto Mono Medium"/>
                <a:sym typeface="Roboto Mono Medium"/>
              </a:rPr>
              <a:t>Backend &amp; Datos</a:t>
            </a:r>
            <a:endParaRPr b="0" i="0" sz="1200" u="none" cap="none" strike="noStrike">
              <a:solidFill>
                <a:schemeClr val="dk1"/>
              </a:solidFill>
              <a:latin typeface="Calibri"/>
              <a:ea typeface="Calibri"/>
              <a:cs typeface="Calibri"/>
              <a:sym typeface="Calibri"/>
            </a:endParaRPr>
          </a:p>
        </p:txBody>
      </p:sp>
      <p:sp>
        <p:nvSpPr>
          <p:cNvPr id="47" name="Google Shape;47;p2"/>
          <p:cNvSpPr/>
          <p:nvPr/>
        </p:nvSpPr>
        <p:spPr>
          <a:xfrm>
            <a:off x="6145783" y="2563713"/>
            <a:ext cx="2369493" cy="410468"/>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Modelamiento NoSQL en Firebase Firestore y algoritmos estadísticos.</a:t>
            </a:r>
            <a:endParaRPr b="0" i="0" sz="1000" u="none" cap="none" strike="noStrike">
              <a:solidFill>
                <a:schemeClr val="dk1"/>
              </a:solidFill>
              <a:latin typeface="Calibri"/>
              <a:ea typeface="Calibri"/>
              <a:cs typeface="Calibri"/>
              <a:sym typeface="Calibri"/>
            </a:endParaRPr>
          </a:p>
        </p:txBody>
      </p:sp>
      <p:sp>
        <p:nvSpPr>
          <p:cNvPr id="48" name="Google Shape;48;p2"/>
          <p:cNvSpPr/>
          <p:nvPr/>
        </p:nvSpPr>
        <p:spPr>
          <a:xfrm>
            <a:off x="496119" y="3437781"/>
            <a:ext cx="4013820" cy="1273373"/>
          </a:xfrm>
          <a:prstGeom prst="roundRect">
            <a:avLst>
              <a:gd fmla="val 1562"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 name="Google Shape;49;p2"/>
          <p:cNvSpPr/>
          <p:nvPr/>
        </p:nvSpPr>
        <p:spPr>
          <a:xfrm>
            <a:off x="628650" y="3570312"/>
            <a:ext cx="397669" cy="397669"/>
          </a:xfrm>
          <a:prstGeom prst="ellipse">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0" name="Google Shape;50;p2"/>
          <p:cNvPicPr preferRelativeResize="0"/>
          <p:nvPr/>
        </p:nvPicPr>
        <p:blipFill rotWithShape="1">
          <a:blip r:embed="rId6">
            <a:alphaModFix/>
          </a:blip>
          <a:srcRect b="0" l="0" r="0" t="0"/>
          <a:stretch/>
        </p:blipFill>
        <p:spPr>
          <a:xfrm>
            <a:off x="737964" y="3679627"/>
            <a:ext cx="178966" cy="178966"/>
          </a:xfrm>
          <a:prstGeom prst="rect">
            <a:avLst/>
          </a:prstGeom>
          <a:noFill/>
          <a:ln>
            <a:noFill/>
          </a:ln>
        </p:spPr>
      </p:pic>
      <p:sp>
        <p:nvSpPr>
          <p:cNvPr id="51" name="Google Shape;51;p2"/>
          <p:cNvSpPr/>
          <p:nvPr/>
        </p:nvSpPr>
        <p:spPr>
          <a:xfrm>
            <a:off x="628650" y="4091955"/>
            <a:ext cx="3748757" cy="20709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200"/>
              <a:buFont typeface="Roboto Mono Medium"/>
              <a:buNone/>
            </a:pPr>
            <a:r>
              <a:rPr b="0" i="0" lang="en-US" sz="1200" u="none" cap="none" strike="noStrike">
                <a:solidFill>
                  <a:srgbClr val="E5E0DF"/>
                </a:solidFill>
                <a:latin typeface="Roboto Mono Medium"/>
                <a:ea typeface="Roboto Mono Medium"/>
                <a:cs typeface="Roboto Mono Medium"/>
                <a:sym typeface="Roboto Mono Medium"/>
              </a:rPr>
              <a:t>Infraestructura Cloud</a:t>
            </a:r>
            <a:endParaRPr b="0" i="0" sz="1200" u="none" cap="none" strike="noStrike">
              <a:solidFill>
                <a:schemeClr val="dk1"/>
              </a:solidFill>
              <a:latin typeface="Calibri"/>
              <a:ea typeface="Calibri"/>
              <a:cs typeface="Calibri"/>
              <a:sym typeface="Calibri"/>
            </a:endParaRPr>
          </a:p>
        </p:txBody>
      </p:sp>
      <p:sp>
        <p:nvSpPr>
          <p:cNvPr id="52" name="Google Shape;52;p2"/>
          <p:cNvSpPr/>
          <p:nvPr/>
        </p:nvSpPr>
        <p:spPr>
          <a:xfrm>
            <a:off x="628650" y="4373389"/>
            <a:ext cx="3748757" cy="205234"/>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Bunny.net CDN y pipeline CI/CD en Vercel.</a:t>
            </a:r>
            <a:endParaRPr b="0" i="0" sz="1000" u="none" cap="none" strike="noStrike">
              <a:solidFill>
                <a:schemeClr val="dk1"/>
              </a:solidFill>
              <a:latin typeface="Calibri"/>
              <a:ea typeface="Calibri"/>
              <a:cs typeface="Calibri"/>
              <a:sym typeface="Calibri"/>
            </a:endParaRPr>
          </a:p>
        </p:txBody>
      </p:sp>
      <p:sp>
        <p:nvSpPr>
          <p:cNvPr id="53" name="Google Shape;53;p2"/>
          <p:cNvSpPr/>
          <p:nvPr/>
        </p:nvSpPr>
        <p:spPr>
          <a:xfrm>
            <a:off x="4633913" y="3437781"/>
            <a:ext cx="4013895" cy="1273373"/>
          </a:xfrm>
          <a:prstGeom prst="roundRect">
            <a:avLst>
              <a:gd fmla="val 1562"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 name="Google Shape;54;p2"/>
          <p:cNvSpPr/>
          <p:nvPr/>
        </p:nvSpPr>
        <p:spPr>
          <a:xfrm>
            <a:off x="4766444" y="3570312"/>
            <a:ext cx="397669" cy="397669"/>
          </a:xfrm>
          <a:prstGeom prst="ellipse">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 name="Google Shape;55;p2"/>
          <p:cNvPicPr preferRelativeResize="0"/>
          <p:nvPr/>
        </p:nvPicPr>
        <p:blipFill rotWithShape="1">
          <a:blip r:embed="rId7">
            <a:alphaModFix/>
          </a:blip>
          <a:srcRect b="0" l="0" r="0" t="0"/>
          <a:stretch/>
        </p:blipFill>
        <p:spPr>
          <a:xfrm>
            <a:off x="4875758" y="3679627"/>
            <a:ext cx="178966" cy="178966"/>
          </a:xfrm>
          <a:prstGeom prst="rect">
            <a:avLst/>
          </a:prstGeom>
          <a:noFill/>
          <a:ln>
            <a:noFill/>
          </a:ln>
        </p:spPr>
      </p:pic>
      <p:sp>
        <p:nvSpPr>
          <p:cNvPr id="56" name="Google Shape;56;p2"/>
          <p:cNvSpPr/>
          <p:nvPr/>
        </p:nvSpPr>
        <p:spPr>
          <a:xfrm>
            <a:off x="4766444" y="4091955"/>
            <a:ext cx="3748832" cy="20709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200"/>
              <a:buFont typeface="Roboto Mono Medium"/>
              <a:buNone/>
            </a:pPr>
            <a:r>
              <a:rPr b="0" i="0" lang="en-US" sz="1200" u="none" cap="none" strike="noStrike">
                <a:solidFill>
                  <a:srgbClr val="E5E0DF"/>
                </a:solidFill>
                <a:latin typeface="Roboto Mono Medium"/>
                <a:ea typeface="Roboto Mono Medium"/>
                <a:cs typeface="Roboto Mono Medium"/>
                <a:sym typeface="Roboto Mono Medium"/>
              </a:rPr>
              <a:t>QA &amp; Testing</a:t>
            </a:r>
            <a:endParaRPr b="0" i="0" sz="1200" u="none" cap="none" strike="noStrike">
              <a:solidFill>
                <a:schemeClr val="dk1"/>
              </a:solidFill>
              <a:latin typeface="Calibri"/>
              <a:ea typeface="Calibri"/>
              <a:cs typeface="Calibri"/>
              <a:sym typeface="Calibri"/>
            </a:endParaRPr>
          </a:p>
        </p:txBody>
      </p:sp>
      <p:sp>
        <p:nvSpPr>
          <p:cNvPr id="57" name="Google Shape;57;p2"/>
          <p:cNvSpPr/>
          <p:nvPr/>
        </p:nvSpPr>
        <p:spPr>
          <a:xfrm>
            <a:off x="4766444" y="4373389"/>
            <a:ext cx="3748832" cy="205234"/>
          </a:xfrm>
          <a:prstGeom prst="rect">
            <a:avLst/>
          </a:prstGeom>
          <a:noFill/>
          <a:ln>
            <a:noFill/>
          </a:ln>
        </p:spPr>
        <p:txBody>
          <a:bodyPr anchorCtr="0" anchor="t" bIns="0" lIns="0" spcFirstLastPara="1" rIns="0" wrap="square" tIns="0">
            <a:noAutofit/>
          </a:bodyPr>
          <a:lstStyle/>
          <a:p>
            <a:pPr indent="0" lvl="0" marL="0" marR="0" rtl="0" algn="l">
              <a:lnSpc>
                <a:spcPct val="129000"/>
              </a:lnSpc>
              <a:spcBef>
                <a:spcPts val="0"/>
              </a:spcBef>
              <a:spcAft>
                <a:spcPts val="0"/>
              </a:spcAft>
              <a:buClr>
                <a:srgbClr val="E5E0DF"/>
              </a:buClr>
              <a:buSzPts val="1000"/>
              <a:buFont typeface="Roboto"/>
              <a:buNone/>
            </a:pPr>
            <a:r>
              <a:rPr b="0" i="0" lang="en-US" sz="1000" u="none" cap="none" strike="noStrike">
                <a:solidFill>
                  <a:srgbClr val="E5E0DF"/>
                </a:solidFill>
                <a:latin typeface="Roboto"/>
                <a:ea typeface="Roboto"/>
                <a:cs typeface="Roboto"/>
                <a:sym typeface="Roboto"/>
              </a:rPr>
              <a:t>Validación de Ban List, algoritmos y métricas de rendimiento.</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 name="Shape 62"/>
        <p:cNvGrpSpPr/>
        <p:nvPr/>
      </p:nvGrpSpPr>
      <p:grpSpPr>
        <a:xfrm>
          <a:off x="0" y="0"/>
          <a:ext cx="0" cy="0"/>
          <a:chOff x="0" y="0"/>
          <a:chExt cx="0" cy="0"/>
        </a:xfrm>
      </p:grpSpPr>
      <p:sp>
        <p:nvSpPr>
          <p:cNvPr id="63" name="Google Shape;63;p3"/>
          <p:cNvSpPr/>
          <p:nvPr/>
        </p:nvSpPr>
        <p:spPr>
          <a:xfrm>
            <a:off x="496119" y="814834"/>
            <a:ext cx="736922" cy="215354"/>
          </a:xfrm>
          <a:prstGeom prst="roundRect">
            <a:avLst>
              <a:gd fmla="val 7900"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4" name="Google Shape;64;p3"/>
          <p:cNvSpPr/>
          <p:nvPr/>
        </p:nvSpPr>
        <p:spPr>
          <a:xfrm>
            <a:off x="581174" y="857324"/>
            <a:ext cx="1024012" cy="13037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850"/>
              <a:buFont typeface="Roboto"/>
              <a:buNone/>
            </a:pPr>
            <a:r>
              <a:rPr b="0" i="0" lang="en-US" sz="850" u="none" cap="none" strike="noStrike">
                <a:solidFill>
                  <a:srgbClr val="DCFF50"/>
                </a:solidFill>
                <a:latin typeface="Roboto"/>
                <a:ea typeface="Roboto"/>
                <a:cs typeface="Roboto"/>
                <a:sym typeface="Roboto"/>
              </a:rPr>
              <a:t>CONTEXTO</a:t>
            </a:r>
            <a:endParaRPr b="0" i="0" sz="850" u="none" cap="none" strike="noStrike">
              <a:solidFill>
                <a:schemeClr val="dk1"/>
              </a:solidFill>
              <a:latin typeface="Calibri"/>
              <a:ea typeface="Calibri"/>
              <a:cs typeface="Calibri"/>
              <a:sym typeface="Calibri"/>
            </a:endParaRPr>
          </a:p>
        </p:txBody>
      </p:sp>
      <p:sp>
        <p:nvSpPr>
          <p:cNvPr id="65" name="Google Shape;65;p3"/>
          <p:cNvSpPr/>
          <p:nvPr/>
        </p:nvSpPr>
        <p:spPr>
          <a:xfrm>
            <a:off x="496119" y="1086892"/>
            <a:ext cx="8151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Problemática Identificada en la Comunidad</a:t>
            </a:r>
            <a:endParaRPr b="0" i="0" sz="2650" u="none" cap="none" strike="noStrike">
              <a:solidFill>
                <a:schemeClr val="dk1"/>
              </a:solidFill>
              <a:latin typeface="Calibri"/>
              <a:ea typeface="Calibri"/>
              <a:cs typeface="Calibri"/>
              <a:sym typeface="Calibri"/>
            </a:endParaRPr>
          </a:p>
        </p:txBody>
      </p:sp>
      <p:sp>
        <p:nvSpPr>
          <p:cNvPr id="66" name="Google Shape;66;p3"/>
          <p:cNvSpPr/>
          <p:nvPr/>
        </p:nvSpPr>
        <p:spPr>
          <a:xfrm>
            <a:off x="496119" y="2185467"/>
            <a:ext cx="8151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Tras la compra del juego a SALO por parte de KLU el juego experimento un crecimiento masivo de </a:t>
            </a:r>
            <a:r>
              <a:rPr b="1" i="0" lang="en-US" sz="1050" u="none" cap="none" strike="noStrike">
                <a:solidFill>
                  <a:srgbClr val="E5E0DF"/>
                </a:solidFill>
                <a:latin typeface="Roboto"/>
                <a:ea typeface="Roboto"/>
                <a:cs typeface="Roboto"/>
                <a:sym typeface="Roboto"/>
              </a:rPr>
              <a:t>jugadores</a:t>
            </a:r>
            <a:r>
              <a:rPr b="0" i="0" lang="en-US" sz="1050" u="none" cap="none" strike="noStrike">
                <a:solidFill>
                  <a:srgbClr val="E5E0DF"/>
                </a:solidFill>
                <a:latin typeface="Roboto"/>
                <a:ea typeface="Roboto"/>
                <a:cs typeface="Roboto"/>
                <a:sym typeface="Roboto"/>
              </a:rPr>
              <a:t> (Primera Era) lo que expuso tres barreras críticas para novatos, casuales y competidores.</a:t>
            </a:r>
            <a:endParaRPr b="0" i="0" sz="1050" u="none" cap="none" strike="noStrike">
              <a:solidFill>
                <a:schemeClr val="dk1"/>
              </a:solidFill>
              <a:latin typeface="Calibri"/>
              <a:ea typeface="Calibri"/>
              <a:cs typeface="Calibri"/>
              <a:sym typeface="Calibri"/>
            </a:endParaRPr>
          </a:p>
        </p:txBody>
      </p:sp>
      <p:pic>
        <p:nvPicPr>
          <p:cNvPr descr="preencoded.png" id="67" name="Google Shape;67;p3"/>
          <p:cNvPicPr preferRelativeResize="0"/>
          <p:nvPr/>
        </p:nvPicPr>
        <p:blipFill rotWithShape="1">
          <a:blip r:embed="rId3">
            <a:alphaModFix/>
          </a:blip>
          <a:srcRect b="0" l="0" r="0" t="0"/>
          <a:stretch/>
        </p:blipFill>
        <p:spPr>
          <a:xfrm>
            <a:off x="496119" y="2798564"/>
            <a:ext cx="2622724" cy="1530028"/>
          </a:xfrm>
          <a:prstGeom prst="rect">
            <a:avLst/>
          </a:prstGeom>
          <a:noFill/>
          <a:ln>
            <a:noFill/>
          </a:ln>
        </p:spPr>
      </p:pic>
      <p:sp>
        <p:nvSpPr>
          <p:cNvPr id="68" name="Google Shape;68;p3"/>
          <p:cNvSpPr/>
          <p:nvPr/>
        </p:nvSpPr>
        <p:spPr>
          <a:xfrm>
            <a:off x="733127" y="2959373"/>
            <a:ext cx="2224906"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Información Desorganizada</a:t>
            </a:r>
            <a:endParaRPr b="0" i="0" sz="1300" u="none" cap="none" strike="noStrike">
              <a:solidFill>
                <a:schemeClr val="dk1"/>
              </a:solidFill>
              <a:latin typeface="Calibri"/>
              <a:ea typeface="Calibri"/>
              <a:cs typeface="Calibri"/>
              <a:sym typeface="Calibri"/>
            </a:endParaRPr>
          </a:p>
        </p:txBody>
      </p:sp>
      <p:sp>
        <p:nvSpPr>
          <p:cNvPr id="69" name="Google Shape;69;p3"/>
          <p:cNvSpPr/>
          <p:nvPr/>
        </p:nvSpPr>
        <p:spPr>
          <a:xfrm>
            <a:off x="733127" y="3487341"/>
            <a:ext cx="2224906"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Catálogo de </a:t>
            </a:r>
            <a:r>
              <a:rPr b="1" i="0" lang="en-US" sz="1050" u="none" cap="none" strike="noStrike">
                <a:solidFill>
                  <a:srgbClr val="E5E0DF"/>
                </a:solidFill>
                <a:latin typeface="Roboto"/>
                <a:ea typeface="Roboto"/>
                <a:cs typeface="Roboto"/>
                <a:sym typeface="Roboto"/>
              </a:rPr>
              <a:t>+1.000 cartas</a:t>
            </a:r>
            <a:r>
              <a:rPr b="0" i="0" lang="en-US" sz="1050" u="none" cap="none" strike="noStrike">
                <a:solidFill>
                  <a:srgbClr val="E5E0DF"/>
                </a:solidFill>
                <a:latin typeface="Roboto"/>
                <a:ea typeface="Roboto"/>
                <a:cs typeface="Roboto"/>
                <a:sym typeface="Roboto"/>
              </a:rPr>
              <a:t> sin claridad sobre dónde obtener cada una.</a:t>
            </a:r>
            <a:endParaRPr b="0" i="0" sz="1050" u="none" cap="none" strike="noStrike">
              <a:solidFill>
                <a:schemeClr val="dk1"/>
              </a:solidFill>
              <a:latin typeface="Calibri"/>
              <a:ea typeface="Calibri"/>
              <a:cs typeface="Calibri"/>
              <a:sym typeface="Calibri"/>
            </a:endParaRPr>
          </a:p>
        </p:txBody>
      </p:sp>
      <p:pic>
        <p:nvPicPr>
          <p:cNvPr descr="preencoded.png" id="70" name="Google Shape;70;p3"/>
          <p:cNvPicPr preferRelativeResize="0"/>
          <p:nvPr/>
        </p:nvPicPr>
        <p:blipFill rotWithShape="1">
          <a:blip r:embed="rId3">
            <a:alphaModFix/>
          </a:blip>
          <a:srcRect b="0" l="0" r="0" t="0"/>
          <a:stretch/>
        </p:blipFill>
        <p:spPr>
          <a:xfrm>
            <a:off x="3260601" y="2798564"/>
            <a:ext cx="2622724" cy="1530028"/>
          </a:xfrm>
          <a:prstGeom prst="rect">
            <a:avLst/>
          </a:prstGeom>
          <a:noFill/>
          <a:ln>
            <a:noFill/>
          </a:ln>
        </p:spPr>
      </p:pic>
      <p:sp>
        <p:nvSpPr>
          <p:cNvPr id="71" name="Google Shape;71;p3"/>
          <p:cNvSpPr/>
          <p:nvPr/>
        </p:nvSpPr>
        <p:spPr>
          <a:xfrm>
            <a:off x="3497610" y="2959373"/>
            <a:ext cx="2224906"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Gasto Ineficiente</a:t>
            </a:r>
            <a:endParaRPr b="0" i="0" sz="1300" u="none" cap="none" strike="noStrike">
              <a:solidFill>
                <a:schemeClr val="dk1"/>
              </a:solidFill>
              <a:latin typeface="Calibri"/>
              <a:ea typeface="Calibri"/>
              <a:cs typeface="Calibri"/>
              <a:sym typeface="Calibri"/>
            </a:endParaRPr>
          </a:p>
        </p:txBody>
      </p:sp>
      <p:sp>
        <p:nvSpPr>
          <p:cNvPr id="72" name="Google Shape;72;p3"/>
          <p:cNvSpPr/>
          <p:nvPr/>
        </p:nvSpPr>
        <p:spPr>
          <a:xfrm>
            <a:off x="3497610" y="3265884"/>
            <a:ext cx="2224906"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Novatos compran sobres buscando cartas exclusivas de productos sellados o premios JO.</a:t>
            </a:r>
            <a:endParaRPr b="0" i="0" sz="1050" u="none" cap="none" strike="noStrike">
              <a:solidFill>
                <a:schemeClr val="dk1"/>
              </a:solidFill>
              <a:latin typeface="Calibri"/>
              <a:ea typeface="Calibri"/>
              <a:cs typeface="Calibri"/>
              <a:sym typeface="Calibri"/>
            </a:endParaRPr>
          </a:p>
        </p:txBody>
      </p:sp>
      <p:pic>
        <p:nvPicPr>
          <p:cNvPr descr="preencoded.png" id="73" name="Google Shape;73;p3"/>
          <p:cNvPicPr preferRelativeResize="0"/>
          <p:nvPr/>
        </p:nvPicPr>
        <p:blipFill rotWithShape="1">
          <a:blip r:embed="rId3">
            <a:alphaModFix/>
          </a:blip>
          <a:srcRect b="0" l="0" r="0" t="0"/>
          <a:stretch/>
        </p:blipFill>
        <p:spPr>
          <a:xfrm>
            <a:off x="6025083" y="2798564"/>
            <a:ext cx="2622724" cy="1530028"/>
          </a:xfrm>
          <a:prstGeom prst="rect">
            <a:avLst/>
          </a:prstGeom>
          <a:noFill/>
          <a:ln>
            <a:noFill/>
          </a:ln>
        </p:spPr>
      </p:pic>
      <p:sp>
        <p:nvSpPr>
          <p:cNvPr id="74" name="Google Shape;74;p3"/>
          <p:cNvSpPr/>
          <p:nvPr/>
        </p:nvSpPr>
        <p:spPr>
          <a:xfrm>
            <a:off x="6262092" y="2959373"/>
            <a:ext cx="2224906"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Prototipado Empírico y Riesgo de Reglas</a:t>
            </a:r>
            <a:endParaRPr b="0" i="0" sz="1300" u="none" cap="none" strike="noStrike">
              <a:solidFill>
                <a:schemeClr val="dk1"/>
              </a:solidFill>
              <a:latin typeface="Calibri"/>
              <a:ea typeface="Calibri"/>
              <a:cs typeface="Calibri"/>
              <a:sym typeface="Calibri"/>
            </a:endParaRPr>
          </a:p>
        </p:txBody>
      </p:sp>
      <p:sp>
        <p:nvSpPr>
          <p:cNvPr id="75" name="Google Shape;75;p3"/>
          <p:cNvSpPr/>
          <p:nvPr/>
        </p:nvSpPr>
        <p:spPr>
          <a:xfrm>
            <a:off x="6262092" y="3487341"/>
            <a:ext cx="2224906"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Dificultad para probar mazos e ignorancia sobre restricciones de la Ban List oficial antes de comprar.</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 name="Shape 80"/>
        <p:cNvGrpSpPr/>
        <p:nvPr/>
      </p:nvGrpSpPr>
      <p:grpSpPr>
        <a:xfrm>
          <a:off x="0" y="0"/>
          <a:ext cx="0" cy="0"/>
          <a:chOff x="0" y="0"/>
          <a:chExt cx="0" cy="0"/>
        </a:xfrm>
      </p:grpSpPr>
      <p:sp>
        <p:nvSpPr>
          <p:cNvPr id="81" name="Google Shape;81;p4"/>
          <p:cNvSpPr/>
          <p:nvPr/>
        </p:nvSpPr>
        <p:spPr>
          <a:xfrm>
            <a:off x="496119" y="785217"/>
            <a:ext cx="8151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Propuestas de valor. Herramientas para Cada Perfil.</a:t>
            </a:r>
            <a:endParaRPr b="0" i="0" sz="2650" u="none" cap="none" strike="noStrike">
              <a:solidFill>
                <a:schemeClr val="dk1"/>
              </a:solidFill>
              <a:latin typeface="Calibri"/>
              <a:ea typeface="Calibri"/>
              <a:cs typeface="Calibri"/>
              <a:sym typeface="Calibri"/>
            </a:endParaRPr>
          </a:p>
        </p:txBody>
      </p:sp>
      <p:pic>
        <p:nvPicPr>
          <p:cNvPr descr="preencoded.png" id="82" name="Google Shape;82;p4"/>
          <p:cNvPicPr preferRelativeResize="0"/>
          <p:nvPr/>
        </p:nvPicPr>
        <p:blipFill rotWithShape="1">
          <a:blip r:embed="rId3">
            <a:alphaModFix/>
          </a:blip>
          <a:srcRect b="0" l="0" r="0" t="0"/>
          <a:stretch/>
        </p:blipFill>
        <p:spPr>
          <a:xfrm>
            <a:off x="496119" y="1954709"/>
            <a:ext cx="2622724" cy="2403574"/>
          </a:xfrm>
          <a:prstGeom prst="rect">
            <a:avLst/>
          </a:prstGeom>
          <a:noFill/>
          <a:ln>
            <a:noFill/>
          </a:ln>
        </p:spPr>
      </p:pic>
      <p:pic>
        <p:nvPicPr>
          <p:cNvPr descr="preencoded.png" id="83" name="Google Shape;83;p4"/>
          <p:cNvPicPr preferRelativeResize="0"/>
          <p:nvPr/>
        </p:nvPicPr>
        <p:blipFill rotWithShape="1">
          <a:blip r:embed="rId4">
            <a:alphaModFix/>
          </a:blip>
          <a:srcRect b="0" l="0" r="0" t="0"/>
          <a:stretch/>
        </p:blipFill>
        <p:spPr>
          <a:xfrm>
            <a:off x="1701180" y="2080022"/>
            <a:ext cx="212601" cy="212601"/>
          </a:xfrm>
          <a:prstGeom prst="rect">
            <a:avLst/>
          </a:prstGeom>
          <a:noFill/>
          <a:ln>
            <a:noFill/>
          </a:ln>
        </p:spPr>
      </p:pic>
      <p:sp>
        <p:nvSpPr>
          <p:cNvPr id="84" name="Google Shape;84;p4"/>
          <p:cNvSpPr/>
          <p:nvPr/>
        </p:nvSpPr>
        <p:spPr>
          <a:xfrm>
            <a:off x="656927" y="2540794"/>
            <a:ext cx="2301106" cy="66436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Visualizacion de cartas,Mazos y donde encontrar cartas</a:t>
            </a:r>
            <a:endParaRPr b="0" i="0" sz="1300" u="none" cap="none" strike="noStrike">
              <a:solidFill>
                <a:schemeClr val="dk1"/>
              </a:solidFill>
              <a:latin typeface="Calibri"/>
              <a:ea typeface="Calibri"/>
              <a:cs typeface="Calibri"/>
              <a:sym typeface="Calibri"/>
            </a:endParaRPr>
          </a:p>
        </p:txBody>
      </p:sp>
      <p:sp>
        <p:nvSpPr>
          <p:cNvPr id="85" name="Google Shape;85;p4"/>
          <p:cNvSpPr/>
          <p:nvPr/>
        </p:nvSpPr>
        <p:spPr>
          <a:xfrm>
            <a:off x="656927" y="3290218"/>
            <a:ext cx="2301106" cy="907256"/>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Trazabilidad de adquisición: muestra dónde sale cada carta (Sobres, Cajas, Colecciones o Premios JO) y validador de reglas en tiempo real.</a:t>
            </a:r>
            <a:endParaRPr b="0" i="0" sz="1050" u="none" cap="none" strike="noStrike">
              <a:solidFill>
                <a:schemeClr val="dk1"/>
              </a:solidFill>
              <a:latin typeface="Calibri"/>
              <a:ea typeface="Calibri"/>
              <a:cs typeface="Calibri"/>
              <a:sym typeface="Calibri"/>
            </a:endParaRPr>
          </a:p>
        </p:txBody>
      </p:sp>
      <p:pic>
        <p:nvPicPr>
          <p:cNvPr descr="preencoded.png" id="86" name="Google Shape;86;p4"/>
          <p:cNvPicPr preferRelativeResize="0"/>
          <p:nvPr/>
        </p:nvPicPr>
        <p:blipFill rotWithShape="1">
          <a:blip r:embed="rId3">
            <a:alphaModFix/>
          </a:blip>
          <a:srcRect b="0" l="0" r="0" t="0"/>
          <a:stretch/>
        </p:blipFill>
        <p:spPr>
          <a:xfrm>
            <a:off x="3260601" y="1954709"/>
            <a:ext cx="2622724" cy="2403574"/>
          </a:xfrm>
          <a:prstGeom prst="rect">
            <a:avLst/>
          </a:prstGeom>
          <a:noFill/>
          <a:ln>
            <a:noFill/>
          </a:ln>
        </p:spPr>
      </p:pic>
      <p:pic>
        <p:nvPicPr>
          <p:cNvPr descr="preencoded.png" id="87" name="Google Shape;87;p4"/>
          <p:cNvPicPr preferRelativeResize="0"/>
          <p:nvPr/>
        </p:nvPicPr>
        <p:blipFill rotWithShape="1">
          <a:blip r:embed="rId5">
            <a:alphaModFix/>
          </a:blip>
          <a:srcRect b="0" l="0" r="0" t="0"/>
          <a:stretch/>
        </p:blipFill>
        <p:spPr>
          <a:xfrm>
            <a:off x="4465662" y="2080022"/>
            <a:ext cx="212601" cy="212601"/>
          </a:xfrm>
          <a:prstGeom prst="rect">
            <a:avLst/>
          </a:prstGeom>
          <a:noFill/>
          <a:ln>
            <a:noFill/>
          </a:ln>
        </p:spPr>
      </p:pic>
      <p:sp>
        <p:nvSpPr>
          <p:cNvPr id="88" name="Google Shape;88;p4"/>
          <p:cNvSpPr/>
          <p:nvPr/>
        </p:nvSpPr>
        <p:spPr>
          <a:xfrm>
            <a:off x="3421410" y="2540794"/>
            <a:ext cx="2301106"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Casual — Prototipado y Exploración</a:t>
            </a:r>
            <a:endParaRPr b="0" i="0" sz="1300" u="none" cap="none" strike="noStrike">
              <a:solidFill>
                <a:schemeClr val="dk1"/>
              </a:solidFill>
              <a:latin typeface="Calibri"/>
              <a:ea typeface="Calibri"/>
              <a:cs typeface="Calibri"/>
              <a:sym typeface="Calibri"/>
            </a:endParaRPr>
          </a:p>
        </p:txBody>
      </p:sp>
      <p:sp>
        <p:nvSpPr>
          <p:cNvPr id="89" name="Google Shape;89;p4"/>
          <p:cNvSpPr/>
          <p:nvPr/>
        </p:nvSpPr>
        <p:spPr>
          <a:xfrm>
            <a:off x="3421410" y="3068762"/>
            <a:ext cx="2301106"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Deckbuilder visual, exportación, y Simulador de Mano Inicial.</a:t>
            </a:r>
            <a:endParaRPr b="0" i="0" sz="1050" u="none" cap="none" strike="noStrike">
              <a:solidFill>
                <a:schemeClr val="dk1"/>
              </a:solidFill>
              <a:latin typeface="Calibri"/>
              <a:ea typeface="Calibri"/>
              <a:cs typeface="Calibri"/>
              <a:sym typeface="Calibri"/>
            </a:endParaRPr>
          </a:p>
        </p:txBody>
      </p:sp>
      <p:pic>
        <p:nvPicPr>
          <p:cNvPr descr="preencoded.png" id="90" name="Google Shape;90;p4"/>
          <p:cNvPicPr preferRelativeResize="0"/>
          <p:nvPr/>
        </p:nvPicPr>
        <p:blipFill rotWithShape="1">
          <a:blip r:embed="rId3">
            <a:alphaModFix/>
          </a:blip>
          <a:srcRect b="0" l="0" r="0" t="0"/>
          <a:stretch/>
        </p:blipFill>
        <p:spPr>
          <a:xfrm>
            <a:off x="6025083" y="1954709"/>
            <a:ext cx="2622724" cy="2403574"/>
          </a:xfrm>
          <a:prstGeom prst="rect">
            <a:avLst/>
          </a:prstGeom>
          <a:noFill/>
          <a:ln>
            <a:noFill/>
          </a:ln>
        </p:spPr>
      </p:pic>
      <p:pic>
        <p:nvPicPr>
          <p:cNvPr descr="preencoded.png" id="91" name="Google Shape;91;p4"/>
          <p:cNvPicPr preferRelativeResize="0"/>
          <p:nvPr/>
        </p:nvPicPr>
        <p:blipFill rotWithShape="1">
          <a:blip r:embed="rId6">
            <a:alphaModFix/>
          </a:blip>
          <a:srcRect b="0" l="0" r="0" t="0"/>
          <a:stretch/>
        </p:blipFill>
        <p:spPr>
          <a:xfrm>
            <a:off x="7230145" y="2080022"/>
            <a:ext cx="212601" cy="212601"/>
          </a:xfrm>
          <a:prstGeom prst="rect">
            <a:avLst/>
          </a:prstGeom>
          <a:noFill/>
          <a:ln>
            <a:noFill/>
          </a:ln>
        </p:spPr>
      </p:pic>
      <p:sp>
        <p:nvSpPr>
          <p:cNvPr id="92" name="Google Shape;92;p4"/>
          <p:cNvSpPr/>
          <p:nvPr/>
        </p:nvSpPr>
        <p:spPr>
          <a:xfrm>
            <a:off x="6185892" y="2540794"/>
            <a:ext cx="2301106"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Competitivo — Analítica Avanzada</a:t>
            </a:r>
            <a:endParaRPr b="0" i="0" sz="1300" u="none" cap="none" strike="noStrike">
              <a:solidFill>
                <a:schemeClr val="dk1"/>
              </a:solidFill>
              <a:latin typeface="Calibri"/>
              <a:ea typeface="Calibri"/>
              <a:cs typeface="Calibri"/>
              <a:sym typeface="Calibri"/>
            </a:endParaRPr>
          </a:p>
        </p:txBody>
      </p:sp>
      <p:sp>
        <p:nvSpPr>
          <p:cNvPr id="93" name="Google Shape;93;p4"/>
          <p:cNvSpPr/>
          <p:nvPr/>
        </p:nvSpPr>
        <p:spPr>
          <a:xfrm>
            <a:off x="6185892" y="3068762"/>
            <a:ext cx="2301106"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Tier Lists, promedios por raza, Top 10 por tipo de carta, curva de oro y calculadora de probabilidad de robo.</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5"/>
          <p:cNvSpPr/>
          <p:nvPr/>
        </p:nvSpPr>
        <p:spPr>
          <a:xfrm>
            <a:off x="496119" y="441127"/>
            <a:ext cx="8151763" cy="489049"/>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900"/>
              <a:buFont typeface="Roboto Mono Medium"/>
              <a:buNone/>
            </a:pPr>
            <a:r>
              <a:rPr b="0" i="0" lang="en-US" sz="2900" u="none" cap="none" strike="noStrike">
                <a:solidFill>
                  <a:srgbClr val="FFFFFF"/>
                </a:solidFill>
                <a:latin typeface="Roboto Mono Medium"/>
                <a:ea typeface="Roboto Mono Medium"/>
                <a:cs typeface="Roboto Mono Medium"/>
                <a:sym typeface="Roboto Mono Medium"/>
              </a:rPr>
              <a:t>Objetivo General</a:t>
            </a:r>
            <a:endParaRPr b="0" i="0" sz="2900" u="none" cap="none" strike="noStrike">
              <a:solidFill>
                <a:schemeClr val="dk1"/>
              </a:solidFill>
              <a:latin typeface="Calibri"/>
              <a:ea typeface="Calibri"/>
              <a:cs typeface="Calibri"/>
              <a:sym typeface="Calibri"/>
            </a:endParaRPr>
          </a:p>
        </p:txBody>
      </p:sp>
      <p:sp>
        <p:nvSpPr>
          <p:cNvPr id="100" name="Google Shape;100;p5"/>
          <p:cNvSpPr/>
          <p:nvPr/>
        </p:nvSpPr>
        <p:spPr>
          <a:xfrm>
            <a:off x="666229" y="1213619"/>
            <a:ext cx="7981652" cy="326529"/>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5E0DF"/>
              </a:buClr>
              <a:buSzPts val="850"/>
              <a:buFont typeface="Roboto"/>
              <a:buNone/>
            </a:pPr>
            <a:r>
              <a:rPr b="0" i="0" lang="en-US" sz="850" u="none" cap="none" strike="noStrike">
                <a:solidFill>
                  <a:srgbClr val="E5E0DF"/>
                </a:solidFill>
                <a:latin typeface="Roboto"/>
                <a:ea typeface="Roboto"/>
                <a:cs typeface="Roboto"/>
                <a:sym typeface="Roboto"/>
              </a:rPr>
              <a:t>Desarrollar e implementar la plataforma web </a:t>
            </a:r>
            <a:r>
              <a:rPr b="1" i="0" lang="en-US" sz="850" u="none" cap="none" strike="noStrike">
                <a:solidFill>
                  <a:srgbClr val="E5E0DF"/>
                </a:solidFill>
                <a:latin typeface="Roboto"/>
                <a:ea typeface="Roboto"/>
                <a:cs typeface="Roboto"/>
                <a:sym typeface="Roboto"/>
              </a:rPr>
              <a:t>Mazos y Leyendas</a:t>
            </a:r>
            <a:r>
              <a:rPr b="0" i="0" lang="en-US" sz="850" u="none" cap="none" strike="noStrike">
                <a:solidFill>
                  <a:srgbClr val="E5E0DF"/>
                </a:solidFill>
                <a:latin typeface="Roboto"/>
                <a:ea typeface="Roboto"/>
                <a:cs typeface="Roboto"/>
                <a:sym typeface="Roboto"/>
              </a:rPr>
              <a:t> para </a:t>
            </a:r>
            <a:r>
              <a:rPr b="1" i="0" lang="en-US" sz="850" u="none" cap="none" strike="noStrike">
                <a:solidFill>
                  <a:srgbClr val="E5E0DF"/>
                </a:solidFill>
                <a:latin typeface="Roboto"/>
                <a:ea typeface="Roboto"/>
                <a:cs typeface="Roboto"/>
                <a:sym typeface="Roboto"/>
              </a:rPr>
              <a:t>democratizar el acceso a la información</a:t>
            </a:r>
            <a:r>
              <a:rPr b="0" i="0" lang="en-US" sz="850" u="none" cap="none" strike="noStrike">
                <a:solidFill>
                  <a:srgbClr val="E5E0DF"/>
                </a:solidFill>
                <a:latin typeface="Roboto"/>
                <a:ea typeface="Roboto"/>
                <a:cs typeface="Roboto"/>
                <a:sym typeface="Roboto"/>
              </a:rPr>
              <a:t>, proporcionando un catálogo unificado con trazabilidad de productos, un creador de mazos asistido y herramientas estadísticas que acompañen al jugador novato, casual y competitivo.</a:t>
            </a:r>
            <a:endParaRPr b="0" i="0" sz="850" u="none" cap="none" strike="noStrike">
              <a:solidFill>
                <a:schemeClr val="dk1"/>
              </a:solidFill>
              <a:latin typeface="Calibri"/>
              <a:ea typeface="Calibri"/>
              <a:cs typeface="Calibri"/>
              <a:sym typeface="Calibri"/>
            </a:endParaRPr>
          </a:p>
        </p:txBody>
      </p:sp>
      <p:sp>
        <p:nvSpPr>
          <p:cNvPr id="101" name="Google Shape;101;p5"/>
          <p:cNvSpPr/>
          <p:nvPr/>
        </p:nvSpPr>
        <p:spPr>
          <a:xfrm>
            <a:off x="496119" y="1111597"/>
            <a:ext cx="14288" cy="530572"/>
          </a:xfrm>
          <a:prstGeom prst="roundRect">
            <a:avLst>
              <a:gd fmla="val 49998" name="adj"/>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2" name="Google Shape;102;p5"/>
          <p:cNvPicPr preferRelativeResize="0"/>
          <p:nvPr/>
        </p:nvPicPr>
        <p:blipFill rotWithShape="1">
          <a:blip r:embed="rId3">
            <a:alphaModFix/>
          </a:blip>
          <a:srcRect b="0" l="0" r="0" t="0"/>
          <a:stretch/>
        </p:blipFill>
        <p:spPr>
          <a:xfrm>
            <a:off x="1345332" y="1744191"/>
            <a:ext cx="6453262" cy="2692822"/>
          </a:xfrm>
          <a:prstGeom prst="rect">
            <a:avLst/>
          </a:prstGeom>
          <a:noFill/>
          <a:ln>
            <a:noFill/>
          </a:ln>
        </p:spPr>
      </p:pic>
      <p:sp>
        <p:nvSpPr>
          <p:cNvPr id="103" name="Google Shape;103;p5"/>
          <p:cNvSpPr/>
          <p:nvPr/>
        </p:nvSpPr>
        <p:spPr>
          <a:xfrm>
            <a:off x="5129833" y="1868291"/>
            <a:ext cx="1505699" cy="1834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050"/>
              <a:buFont typeface="Roboto Mono Medium"/>
              <a:buNone/>
            </a:pPr>
            <a:r>
              <a:rPr b="0" i="0" lang="en-US" sz="1050" u="none" cap="none" strike="noStrike">
                <a:solidFill>
                  <a:srgbClr val="FFFFFF"/>
                </a:solidFill>
                <a:latin typeface="Roboto Mono Medium"/>
                <a:ea typeface="Roboto Mono Medium"/>
                <a:cs typeface="Roboto Mono Medium"/>
                <a:sym typeface="Roboto Mono Medium"/>
              </a:rPr>
              <a:t>Catálogo Unificado</a:t>
            </a:r>
            <a:endParaRPr b="0" i="0" sz="1050" u="none" cap="none" strike="noStrike">
              <a:solidFill>
                <a:schemeClr val="dk1"/>
              </a:solidFill>
              <a:latin typeface="Calibri"/>
              <a:ea typeface="Calibri"/>
              <a:cs typeface="Calibri"/>
              <a:sym typeface="Calibri"/>
            </a:endParaRPr>
          </a:p>
        </p:txBody>
      </p:sp>
      <p:sp>
        <p:nvSpPr>
          <p:cNvPr id="104" name="Google Shape;104;p5"/>
          <p:cNvSpPr/>
          <p:nvPr/>
        </p:nvSpPr>
        <p:spPr>
          <a:xfrm>
            <a:off x="5129833" y="2103872"/>
            <a:ext cx="2515170" cy="132056"/>
          </a:xfrm>
          <a:prstGeom prst="rect">
            <a:avLst/>
          </a:prstGeom>
          <a:noFill/>
          <a:ln>
            <a:noFill/>
          </a:ln>
        </p:spPr>
        <p:txBody>
          <a:bodyPr anchorCtr="0" anchor="t" bIns="0" lIns="0" spcFirstLastPara="1" rIns="0" wrap="square" tIns="0">
            <a:noAutofit/>
          </a:bodyPr>
          <a:lstStyle/>
          <a:p>
            <a:pPr indent="0" lvl="0" marL="0" marR="0" rtl="0" algn="l">
              <a:lnSpc>
                <a:spcPct val="94000"/>
              </a:lnSpc>
              <a:spcBef>
                <a:spcPts val="0"/>
              </a:spcBef>
              <a:spcAft>
                <a:spcPts val="0"/>
              </a:spcAft>
              <a:buClr>
                <a:srgbClr val="E5E0DF"/>
              </a:buClr>
              <a:buSzPts val="850"/>
              <a:buFont typeface="Roboto"/>
              <a:buNone/>
            </a:pPr>
            <a:r>
              <a:rPr b="0" i="0" lang="en-US" sz="850" u="none" cap="none" strike="noStrike">
                <a:solidFill>
                  <a:srgbClr val="E5E0DF"/>
                </a:solidFill>
                <a:latin typeface="Roboto"/>
                <a:ea typeface="Roboto"/>
                <a:cs typeface="Roboto"/>
                <a:sym typeface="Roboto"/>
              </a:rPr>
              <a:t>Trazabilidad de +3.000 cartas</a:t>
            </a:r>
            <a:endParaRPr b="0" i="0" sz="850" u="none" cap="none" strike="noStrike">
              <a:solidFill>
                <a:schemeClr val="dk1"/>
              </a:solidFill>
              <a:latin typeface="Calibri"/>
              <a:ea typeface="Calibri"/>
              <a:cs typeface="Calibri"/>
              <a:sym typeface="Calibri"/>
            </a:endParaRPr>
          </a:p>
        </p:txBody>
      </p:sp>
      <p:sp>
        <p:nvSpPr>
          <p:cNvPr id="105" name="Google Shape;105;p5"/>
          <p:cNvSpPr/>
          <p:nvPr/>
        </p:nvSpPr>
        <p:spPr>
          <a:xfrm>
            <a:off x="5129936" y="2744586"/>
            <a:ext cx="1673010" cy="183411"/>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050"/>
              <a:buFont typeface="Roboto Mono Medium"/>
              <a:buNone/>
            </a:pPr>
            <a:r>
              <a:rPr b="0" i="0" lang="en-US" sz="1050" u="none" cap="none" strike="noStrike">
                <a:solidFill>
                  <a:srgbClr val="FFFFFF"/>
                </a:solidFill>
                <a:latin typeface="Roboto Mono Medium"/>
                <a:ea typeface="Roboto Mono Medium"/>
                <a:cs typeface="Roboto Mono Medium"/>
                <a:sym typeface="Roboto Mono Medium"/>
              </a:rPr>
              <a:t>Deckbuilder Asistido</a:t>
            </a:r>
            <a:endParaRPr b="0" i="0" sz="1050" u="none" cap="none" strike="noStrike">
              <a:solidFill>
                <a:schemeClr val="dk1"/>
              </a:solidFill>
              <a:latin typeface="Calibri"/>
              <a:ea typeface="Calibri"/>
              <a:cs typeface="Calibri"/>
              <a:sym typeface="Calibri"/>
            </a:endParaRPr>
          </a:p>
        </p:txBody>
      </p:sp>
      <p:sp>
        <p:nvSpPr>
          <p:cNvPr id="106" name="Google Shape;106;p5"/>
          <p:cNvSpPr/>
          <p:nvPr/>
        </p:nvSpPr>
        <p:spPr>
          <a:xfrm>
            <a:off x="5129936" y="2980166"/>
            <a:ext cx="2515169" cy="132056"/>
          </a:xfrm>
          <a:prstGeom prst="rect">
            <a:avLst/>
          </a:prstGeom>
          <a:noFill/>
          <a:ln>
            <a:noFill/>
          </a:ln>
        </p:spPr>
        <p:txBody>
          <a:bodyPr anchorCtr="0" anchor="t" bIns="0" lIns="0" spcFirstLastPara="1" rIns="0" wrap="square" tIns="0">
            <a:noAutofit/>
          </a:bodyPr>
          <a:lstStyle/>
          <a:p>
            <a:pPr indent="0" lvl="0" marL="0" marR="0" rtl="0" algn="l">
              <a:lnSpc>
                <a:spcPct val="94000"/>
              </a:lnSpc>
              <a:spcBef>
                <a:spcPts val="0"/>
              </a:spcBef>
              <a:spcAft>
                <a:spcPts val="0"/>
              </a:spcAft>
              <a:buClr>
                <a:srgbClr val="E5E0DF"/>
              </a:buClr>
              <a:buSzPts val="850"/>
              <a:buFont typeface="Roboto"/>
              <a:buNone/>
            </a:pPr>
            <a:r>
              <a:rPr b="0" i="0" lang="en-US" sz="850" u="none" cap="none" strike="noStrike">
                <a:solidFill>
                  <a:srgbClr val="E5E0DF"/>
                </a:solidFill>
                <a:latin typeface="Roboto"/>
                <a:ea typeface="Roboto"/>
                <a:cs typeface="Roboto"/>
                <a:sym typeface="Roboto"/>
              </a:rPr>
              <a:t>Validación y prototipado rápido</a:t>
            </a:r>
            <a:endParaRPr b="0" i="0" sz="850" u="none" cap="none" strike="noStrike">
              <a:solidFill>
                <a:schemeClr val="dk1"/>
              </a:solidFill>
              <a:latin typeface="Calibri"/>
              <a:ea typeface="Calibri"/>
              <a:cs typeface="Calibri"/>
              <a:sym typeface="Calibri"/>
            </a:endParaRPr>
          </a:p>
        </p:txBody>
      </p:sp>
      <p:sp>
        <p:nvSpPr>
          <p:cNvPr id="107" name="Google Shape;107;p5"/>
          <p:cNvSpPr/>
          <p:nvPr/>
        </p:nvSpPr>
        <p:spPr>
          <a:xfrm>
            <a:off x="5129936" y="3648494"/>
            <a:ext cx="2007632" cy="183410"/>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050"/>
              <a:buFont typeface="Roboto Mono Medium"/>
              <a:buNone/>
            </a:pPr>
            <a:r>
              <a:rPr b="0" i="0" lang="en-US" sz="1050" u="none" cap="none" strike="noStrike">
                <a:solidFill>
                  <a:srgbClr val="FFFFFF"/>
                </a:solidFill>
                <a:latin typeface="Roboto Mono Medium"/>
                <a:ea typeface="Roboto Mono Medium"/>
                <a:cs typeface="Roboto Mono Medium"/>
                <a:sym typeface="Roboto Mono Medium"/>
              </a:rPr>
              <a:t>Inteligencia de Metagame</a:t>
            </a:r>
            <a:endParaRPr b="0" i="0" sz="1050" u="none" cap="none" strike="noStrike">
              <a:solidFill>
                <a:schemeClr val="dk1"/>
              </a:solidFill>
              <a:latin typeface="Calibri"/>
              <a:ea typeface="Calibri"/>
              <a:cs typeface="Calibri"/>
              <a:sym typeface="Calibri"/>
            </a:endParaRPr>
          </a:p>
        </p:txBody>
      </p:sp>
      <p:sp>
        <p:nvSpPr>
          <p:cNvPr id="108" name="Google Shape;108;p5"/>
          <p:cNvSpPr/>
          <p:nvPr/>
        </p:nvSpPr>
        <p:spPr>
          <a:xfrm>
            <a:off x="5129936" y="3884075"/>
            <a:ext cx="2515169" cy="132056"/>
          </a:xfrm>
          <a:prstGeom prst="rect">
            <a:avLst/>
          </a:prstGeom>
          <a:noFill/>
          <a:ln>
            <a:noFill/>
          </a:ln>
        </p:spPr>
        <p:txBody>
          <a:bodyPr anchorCtr="0" anchor="t" bIns="0" lIns="0" spcFirstLastPara="1" rIns="0" wrap="square" tIns="0">
            <a:noAutofit/>
          </a:bodyPr>
          <a:lstStyle/>
          <a:p>
            <a:pPr indent="0" lvl="0" marL="0" marR="0" rtl="0" algn="l">
              <a:lnSpc>
                <a:spcPct val="94000"/>
              </a:lnSpc>
              <a:spcBef>
                <a:spcPts val="0"/>
              </a:spcBef>
              <a:spcAft>
                <a:spcPts val="0"/>
              </a:spcAft>
              <a:buClr>
                <a:srgbClr val="E5E0DF"/>
              </a:buClr>
              <a:buSzPts val="850"/>
              <a:buFont typeface="Roboto"/>
              <a:buNone/>
            </a:pPr>
            <a:r>
              <a:rPr b="0" i="0" lang="en-US" sz="850" u="none" cap="none" strike="noStrike">
                <a:solidFill>
                  <a:srgbClr val="E5E0DF"/>
                </a:solidFill>
                <a:latin typeface="Roboto"/>
                <a:ea typeface="Roboto"/>
                <a:cs typeface="Roboto"/>
                <a:sym typeface="Roboto"/>
              </a:rPr>
              <a:t>Analítica, rankings y tendencias</a:t>
            </a:r>
            <a:endParaRPr b="0" i="0" sz="850" u="none" cap="none" strike="noStrike">
              <a:solidFill>
                <a:schemeClr val="dk1"/>
              </a:solidFill>
              <a:latin typeface="Calibri"/>
              <a:ea typeface="Calibri"/>
              <a:cs typeface="Calibri"/>
              <a:sym typeface="Calibri"/>
            </a:endParaRPr>
          </a:p>
        </p:txBody>
      </p:sp>
      <p:sp>
        <p:nvSpPr>
          <p:cNvPr id="109" name="Google Shape;109;p5"/>
          <p:cNvSpPr/>
          <p:nvPr/>
        </p:nvSpPr>
        <p:spPr>
          <a:xfrm>
            <a:off x="496119" y="4539035"/>
            <a:ext cx="8608963" cy="163264"/>
          </a:xfrm>
          <a:prstGeom prst="rect">
            <a:avLst/>
          </a:prstGeom>
          <a:noFill/>
          <a:ln>
            <a:noFill/>
          </a:ln>
        </p:spPr>
        <p:txBody>
          <a:bodyPr anchorCtr="0" anchor="t" bIns="0" lIns="0" spcFirstLastPara="1" rIns="0" wrap="square" tIns="0">
            <a:noAutofit/>
          </a:bodyPr>
          <a:lstStyle/>
          <a:p>
            <a:pPr indent="0" lvl="0" marL="0" marR="0" rtl="0" algn="l">
              <a:lnSpc>
                <a:spcPct val="120000"/>
              </a:lnSpc>
              <a:spcBef>
                <a:spcPts val="0"/>
              </a:spcBef>
              <a:spcAft>
                <a:spcPts val="0"/>
              </a:spcAft>
              <a:buClr>
                <a:srgbClr val="E5E0DF"/>
              </a:buClr>
              <a:buSzPts val="850"/>
              <a:buFont typeface="Roboto"/>
              <a:buNone/>
            </a:pPr>
            <a:r>
              <a:rPr b="0" i="0" lang="en-US" sz="850" u="none" cap="none" strike="noStrike">
                <a:solidFill>
                  <a:srgbClr val="E5E0DF"/>
                </a:solidFill>
                <a:latin typeface="Roboto"/>
                <a:ea typeface="Roboto"/>
                <a:cs typeface="Roboto"/>
                <a:sym typeface="Roboto"/>
              </a:rPr>
              <a:t>La plataforma se articula en tres pilares que cubren el ciclo completo del jugador: desde la adquisición informada hasta el análisis competitivo avanzado.</a:t>
            </a:r>
            <a:endParaRPr b="0" i="0" sz="85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6"/>
          <p:cNvSpPr/>
          <p:nvPr/>
        </p:nvSpPr>
        <p:spPr>
          <a:xfrm>
            <a:off x="496119" y="742727"/>
            <a:ext cx="8151763" cy="61138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3650"/>
              <a:buFont typeface="Roboto Mono Medium"/>
              <a:buNone/>
            </a:pPr>
            <a:r>
              <a:rPr b="0" i="0" lang="en-US" sz="3650" u="none" cap="none" strike="noStrike">
                <a:solidFill>
                  <a:srgbClr val="FFFFFF"/>
                </a:solidFill>
                <a:latin typeface="Roboto Mono Medium"/>
                <a:ea typeface="Roboto Mono Medium"/>
                <a:cs typeface="Roboto Mono Medium"/>
                <a:sym typeface="Roboto Mono Medium"/>
              </a:rPr>
              <a:t>Objetivos específicos</a:t>
            </a:r>
            <a:endParaRPr b="0" i="0" sz="3650" u="none" cap="none" strike="noStrike">
              <a:solidFill>
                <a:schemeClr val="dk1"/>
              </a:solidFill>
              <a:latin typeface="Calibri"/>
              <a:ea typeface="Calibri"/>
              <a:cs typeface="Calibri"/>
              <a:sym typeface="Calibri"/>
            </a:endParaRPr>
          </a:p>
        </p:txBody>
      </p:sp>
      <p:sp>
        <p:nvSpPr>
          <p:cNvPr id="116" name="Google Shape;116;p6"/>
          <p:cNvSpPr/>
          <p:nvPr/>
        </p:nvSpPr>
        <p:spPr>
          <a:xfrm>
            <a:off x="496119" y="1637630"/>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01</a:t>
            </a:r>
            <a:endParaRPr b="0" i="0" sz="1050" u="none" cap="none" strike="noStrike">
              <a:solidFill>
                <a:schemeClr val="dk1"/>
              </a:solidFill>
              <a:latin typeface="Calibri"/>
              <a:ea typeface="Calibri"/>
              <a:cs typeface="Calibri"/>
              <a:sym typeface="Calibri"/>
            </a:endParaRPr>
          </a:p>
        </p:txBody>
      </p:sp>
      <p:sp>
        <p:nvSpPr>
          <p:cNvPr id="117" name="Google Shape;117;p6"/>
          <p:cNvSpPr/>
          <p:nvPr/>
        </p:nvSpPr>
        <p:spPr>
          <a:xfrm>
            <a:off x="496119" y="1859533"/>
            <a:ext cx="2622724"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6"/>
          <p:cNvSpPr/>
          <p:nvPr/>
        </p:nvSpPr>
        <p:spPr>
          <a:xfrm>
            <a:off x="496119" y="1968475"/>
            <a:ext cx="2622724" cy="44291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Catálogo Digital Unificado</a:t>
            </a:r>
            <a:endParaRPr b="0" i="0" sz="1300" u="none" cap="none" strike="noStrike">
              <a:solidFill>
                <a:schemeClr val="dk1"/>
              </a:solidFill>
              <a:latin typeface="Calibri"/>
              <a:ea typeface="Calibri"/>
              <a:cs typeface="Calibri"/>
              <a:sym typeface="Calibri"/>
            </a:endParaRPr>
          </a:p>
        </p:txBody>
      </p:sp>
      <p:sp>
        <p:nvSpPr>
          <p:cNvPr id="119" name="Google Shape;119;p6"/>
          <p:cNvSpPr/>
          <p:nvPr/>
        </p:nvSpPr>
        <p:spPr>
          <a:xfrm>
            <a:off x="496119" y="2496443"/>
            <a:ext cx="2622724"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Indexar +3.000 cartas con mapeo de origen vía Bunny.net CDN.</a:t>
            </a:r>
            <a:endParaRPr b="0" i="0" sz="1050" u="none" cap="none" strike="noStrike">
              <a:solidFill>
                <a:schemeClr val="dk1"/>
              </a:solidFill>
              <a:latin typeface="Calibri"/>
              <a:ea typeface="Calibri"/>
              <a:cs typeface="Calibri"/>
              <a:sym typeface="Calibri"/>
            </a:endParaRPr>
          </a:p>
        </p:txBody>
      </p:sp>
      <p:sp>
        <p:nvSpPr>
          <p:cNvPr id="120" name="Google Shape;120;p6"/>
          <p:cNvSpPr/>
          <p:nvPr/>
        </p:nvSpPr>
        <p:spPr>
          <a:xfrm>
            <a:off x="3260601" y="1637630"/>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02</a:t>
            </a:r>
            <a:endParaRPr b="0" i="0" sz="1050" u="none" cap="none" strike="noStrike">
              <a:solidFill>
                <a:schemeClr val="dk1"/>
              </a:solidFill>
              <a:latin typeface="Calibri"/>
              <a:ea typeface="Calibri"/>
              <a:cs typeface="Calibri"/>
              <a:sym typeface="Calibri"/>
            </a:endParaRPr>
          </a:p>
        </p:txBody>
      </p:sp>
      <p:sp>
        <p:nvSpPr>
          <p:cNvPr id="121" name="Google Shape;121;p6"/>
          <p:cNvSpPr/>
          <p:nvPr/>
        </p:nvSpPr>
        <p:spPr>
          <a:xfrm>
            <a:off x="3260601" y="1859533"/>
            <a:ext cx="2622724"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6"/>
          <p:cNvSpPr/>
          <p:nvPr/>
        </p:nvSpPr>
        <p:spPr>
          <a:xfrm>
            <a:off x="3260601" y="1968475"/>
            <a:ext cx="2622724"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Deckbuilder Asistido</a:t>
            </a:r>
            <a:endParaRPr b="0" i="0" sz="1300" u="none" cap="none" strike="noStrike">
              <a:solidFill>
                <a:schemeClr val="dk1"/>
              </a:solidFill>
              <a:latin typeface="Calibri"/>
              <a:ea typeface="Calibri"/>
              <a:cs typeface="Calibri"/>
              <a:sym typeface="Calibri"/>
            </a:endParaRPr>
          </a:p>
        </p:txBody>
      </p:sp>
      <p:sp>
        <p:nvSpPr>
          <p:cNvPr id="123" name="Google Shape;123;p6"/>
          <p:cNvSpPr/>
          <p:nvPr/>
        </p:nvSpPr>
        <p:spPr>
          <a:xfrm>
            <a:off x="3260601" y="2274987"/>
            <a:ext cx="2622724"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Validador en tiempo real de Ban List y desglose de productos necesarios.</a:t>
            </a:r>
            <a:endParaRPr b="0" i="0" sz="1050" u="none" cap="none" strike="noStrike">
              <a:solidFill>
                <a:schemeClr val="dk1"/>
              </a:solidFill>
              <a:latin typeface="Calibri"/>
              <a:ea typeface="Calibri"/>
              <a:cs typeface="Calibri"/>
              <a:sym typeface="Calibri"/>
            </a:endParaRPr>
          </a:p>
        </p:txBody>
      </p:sp>
      <p:sp>
        <p:nvSpPr>
          <p:cNvPr id="124" name="Google Shape;124;p6"/>
          <p:cNvSpPr/>
          <p:nvPr/>
        </p:nvSpPr>
        <p:spPr>
          <a:xfrm>
            <a:off x="6025083" y="1637630"/>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03</a:t>
            </a:r>
            <a:endParaRPr b="0" i="0" sz="1050" u="none" cap="none" strike="noStrike">
              <a:solidFill>
                <a:schemeClr val="dk1"/>
              </a:solidFill>
              <a:latin typeface="Calibri"/>
              <a:ea typeface="Calibri"/>
              <a:cs typeface="Calibri"/>
              <a:sym typeface="Calibri"/>
            </a:endParaRPr>
          </a:p>
        </p:txBody>
      </p:sp>
      <p:sp>
        <p:nvSpPr>
          <p:cNvPr id="125" name="Google Shape;125;p6"/>
          <p:cNvSpPr/>
          <p:nvPr/>
        </p:nvSpPr>
        <p:spPr>
          <a:xfrm>
            <a:off x="6025083" y="1859533"/>
            <a:ext cx="2622724"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6" name="Google Shape;126;p6"/>
          <p:cNvSpPr/>
          <p:nvPr/>
        </p:nvSpPr>
        <p:spPr>
          <a:xfrm>
            <a:off x="6025083" y="1968475"/>
            <a:ext cx="2622724"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Módulo de Prototipado</a:t>
            </a:r>
            <a:endParaRPr b="0" i="0" sz="1300" u="none" cap="none" strike="noStrike">
              <a:solidFill>
                <a:schemeClr val="dk1"/>
              </a:solidFill>
              <a:latin typeface="Calibri"/>
              <a:ea typeface="Calibri"/>
              <a:cs typeface="Calibri"/>
              <a:sym typeface="Calibri"/>
            </a:endParaRPr>
          </a:p>
        </p:txBody>
      </p:sp>
      <p:sp>
        <p:nvSpPr>
          <p:cNvPr id="127" name="Google Shape;127;p6"/>
          <p:cNvSpPr/>
          <p:nvPr/>
        </p:nvSpPr>
        <p:spPr>
          <a:xfrm>
            <a:off x="6025083" y="2274987"/>
            <a:ext cx="2622724"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Simulador de mano inicial (8 cartas con mulligan), curva de oro y calculadora probabilística.</a:t>
            </a:r>
            <a:endParaRPr b="0" i="0" sz="1050" u="none" cap="none" strike="noStrike">
              <a:solidFill>
                <a:schemeClr val="dk1"/>
              </a:solidFill>
              <a:latin typeface="Calibri"/>
              <a:ea typeface="Calibri"/>
              <a:cs typeface="Calibri"/>
              <a:sym typeface="Calibri"/>
            </a:endParaRPr>
          </a:p>
        </p:txBody>
      </p:sp>
      <p:sp>
        <p:nvSpPr>
          <p:cNvPr id="128" name="Google Shape;128;p6"/>
          <p:cNvSpPr/>
          <p:nvPr/>
        </p:nvSpPr>
        <p:spPr>
          <a:xfrm>
            <a:off x="496119" y="3203451"/>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04</a:t>
            </a:r>
            <a:endParaRPr b="0" i="0" sz="1050" u="none" cap="none" strike="noStrike">
              <a:solidFill>
                <a:schemeClr val="dk1"/>
              </a:solidFill>
              <a:latin typeface="Calibri"/>
              <a:ea typeface="Calibri"/>
              <a:cs typeface="Calibri"/>
              <a:sym typeface="Calibri"/>
            </a:endParaRPr>
          </a:p>
        </p:txBody>
      </p:sp>
      <p:sp>
        <p:nvSpPr>
          <p:cNvPr id="129" name="Google Shape;129;p6"/>
          <p:cNvSpPr/>
          <p:nvPr/>
        </p:nvSpPr>
        <p:spPr>
          <a:xfrm>
            <a:off x="496119" y="3425354"/>
            <a:ext cx="4004965"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6"/>
          <p:cNvSpPr/>
          <p:nvPr/>
        </p:nvSpPr>
        <p:spPr>
          <a:xfrm>
            <a:off x="496119" y="3534296"/>
            <a:ext cx="4004965"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Engine de Metagame</a:t>
            </a:r>
            <a:endParaRPr b="0" i="0" sz="1300" u="none" cap="none" strike="noStrike">
              <a:solidFill>
                <a:schemeClr val="dk1"/>
              </a:solidFill>
              <a:latin typeface="Calibri"/>
              <a:ea typeface="Calibri"/>
              <a:cs typeface="Calibri"/>
              <a:sym typeface="Calibri"/>
            </a:endParaRPr>
          </a:p>
        </p:txBody>
      </p:sp>
      <p:sp>
        <p:nvSpPr>
          <p:cNvPr id="131" name="Google Shape;131;p6"/>
          <p:cNvSpPr/>
          <p:nvPr/>
        </p:nvSpPr>
        <p:spPr>
          <a:xfrm>
            <a:off x="496119" y="3840807"/>
            <a:ext cx="4004965"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Procesar mazos públicos para Tier Lists mensuales, promedios por raza y rankings Top 10.</a:t>
            </a:r>
            <a:endParaRPr b="0" i="0" sz="1050" u="none" cap="none" strike="noStrike">
              <a:solidFill>
                <a:schemeClr val="dk1"/>
              </a:solidFill>
              <a:latin typeface="Calibri"/>
              <a:ea typeface="Calibri"/>
              <a:cs typeface="Calibri"/>
              <a:sym typeface="Calibri"/>
            </a:endParaRPr>
          </a:p>
        </p:txBody>
      </p:sp>
      <p:sp>
        <p:nvSpPr>
          <p:cNvPr id="132" name="Google Shape;132;p6"/>
          <p:cNvSpPr/>
          <p:nvPr/>
        </p:nvSpPr>
        <p:spPr>
          <a:xfrm>
            <a:off x="4642842" y="3203451"/>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05</a:t>
            </a:r>
            <a:endParaRPr b="0" i="0" sz="1050" u="none" cap="none" strike="noStrike">
              <a:solidFill>
                <a:schemeClr val="dk1"/>
              </a:solidFill>
              <a:latin typeface="Calibri"/>
              <a:ea typeface="Calibri"/>
              <a:cs typeface="Calibri"/>
              <a:sym typeface="Calibri"/>
            </a:endParaRPr>
          </a:p>
        </p:txBody>
      </p:sp>
      <p:sp>
        <p:nvSpPr>
          <p:cNvPr id="133" name="Google Shape;133;p6"/>
          <p:cNvSpPr/>
          <p:nvPr/>
        </p:nvSpPr>
        <p:spPr>
          <a:xfrm>
            <a:off x="4642842" y="3425354"/>
            <a:ext cx="4004965"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6"/>
          <p:cNvSpPr/>
          <p:nvPr/>
        </p:nvSpPr>
        <p:spPr>
          <a:xfrm>
            <a:off x="4642842" y="3534296"/>
            <a:ext cx="4004965"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CI/CD &amp; QA</a:t>
            </a:r>
            <a:endParaRPr b="0" i="0" sz="1300" u="none" cap="none" strike="noStrike">
              <a:solidFill>
                <a:schemeClr val="dk1"/>
              </a:solidFill>
              <a:latin typeface="Calibri"/>
              <a:ea typeface="Calibri"/>
              <a:cs typeface="Calibri"/>
              <a:sym typeface="Calibri"/>
            </a:endParaRPr>
          </a:p>
        </p:txBody>
      </p:sp>
      <p:sp>
        <p:nvSpPr>
          <p:cNvPr id="135" name="Google Shape;135;p6"/>
          <p:cNvSpPr/>
          <p:nvPr/>
        </p:nvSpPr>
        <p:spPr>
          <a:xfrm>
            <a:off x="4642842" y="3840807"/>
            <a:ext cx="4004965"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Arquitectura Serverless en Firebase y Vercel bajo estándares QA.</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7"/>
          <p:cNvSpPr/>
          <p:nvPr/>
        </p:nvSpPr>
        <p:spPr>
          <a:xfrm>
            <a:off x="496119" y="405408"/>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Alcance del sistema</a:t>
            </a:r>
            <a:endParaRPr b="0" i="0" sz="2650" u="none" cap="none" strike="noStrike">
              <a:solidFill>
                <a:schemeClr val="dk1"/>
              </a:solidFill>
              <a:latin typeface="Calibri"/>
              <a:ea typeface="Calibri"/>
              <a:cs typeface="Calibri"/>
              <a:sym typeface="Calibri"/>
            </a:endParaRPr>
          </a:p>
        </p:txBody>
      </p:sp>
      <p:graphicFrame>
        <p:nvGraphicFramePr>
          <p:cNvPr id="142" name="Google Shape;142;p7"/>
          <p:cNvGraphicFramePr/>
          <p:nvPr/>
        </p:nvGraphicFramePr>
        <p:xfrm>
          <a:off x="496119" y="1131912"/>
          <a:ext cx="3000000" cy="3000000"/>
        </p:xfrm>
        <a:graphic>
          <a:graphicData uri="http://schemas.openxmlformats.org/drawingml/2006/table">
            <a:tbl>
              <a:tblPr>
                <a:noFill/>
                <a:tableStyleId>{DB55EB79-0341-487C-AD29-4228F110DB47}</a:tableStyleId>
              </a:tblPr>
              <a:tblGrid>
                <a:gridCol w="2037950"/>
                <a:gridCol w="3260700"/>
                <a:gridCol w="2853125"/>
              </a:tblGrid>
              <a:tr h="408825">
                <a:tc>
                  <a:txBody>
                    <a:bodyPr/>
                    <a:lstStyle/>
                    <a:p>
                      <a:pPr indent="0" lvl="0" marL="0" marR="0" rtl="0" algn="l">
                        <a:lnSpc>
                          <a:spcPct val="100000"/>
                        </a:lnSpc>
                        <a:spcBef>
                          <a:spcPts val="0"/>
                        </a:spcBef>
                        <a:spcAft>
                          <a:spcPts val="0"/>
                        </a:spcAft>
                        <a:buClr>
                          <a:srgbClr val="E5E0DF"/>
                        </a:buClr>
                        <a:buSzPts val="1050"/>
                        <a:buFont typeface="Roboto"/>
                        <a:buNone/>
                      </a:pPr>
                      <a:r>
                        <a:rPr b="1" lang="en-US" sz="1050" u="none" cap="none" strike="noStrike">
                          <a:solidFill>
                            <a:srgbClr val="E5E0DF"/>
                          </a:solidFill>
                          <a:latin typeface="Roboto"/>
                          <a:ea typeface="Roboto"/>
                          <a:cs typeface="Roboto"/>
                          <a:sym typeface="Roboto"/>
                        </a:rPr>
                        <a:t>Módulo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b="1" lang="en-US" sz="1050" u="none" cap="none" strike="noStrike">
                          <a:solidFill>
                            <a:srgbClr val="E5E0DF"/>
                          </a:solidFill>
                          <a:latin typeface="Roboto"/>
                          <a:ea typeface="Roboto"/>
                          <a:cs typeface="Roboto"/>
                          <a:sym typeface="Roboto"/>
                        </a:rPr>
                        <a:t>Funcionalidad Clave</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b="1" lang="en-US" sz="1050" u="none" cap="none" strike="noStrike">
                          <a:solidFill>
                            <a:srgbClr val="E5E0DF"/>
                          </a:solidFill>
                          <a:latin typeface="Roboto"/>
                          <a:ea typeface="Roboto"/>
                          <a:cs typeface="Roboto"/>
                          <a:sym typeface="Roboto"/>
                        </a:rPr>
                        <a:t>Impacto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r h="638025">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Catálogo &amp; Trazabilidad</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Buscador HD con origen de carta (Sobres, Caja, Colección, Torneo JO)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Previene compras erróneas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r h="638025">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Deckbuilder Asistido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Creador visual, validador Ban List, exportador e informe de productos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Prototipado sin riesgo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r h="638025">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Simulador de Prototipado</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Generador de mano inicial (8 cartas) y gráfica de curva de coste</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Optimización de mazos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r h="638025">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Metagame Analytics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Tier Lists mensuales, promedios por raza y Top 10 por categoría</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Inteligencia competitiva</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r h="635650">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Backend &amp; Perfiles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Firebase Auth, Firestore NoSQL y clonación de listas</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c>
                  <a:txBody>
                    <a:bodyPr/>
                    <a:lstStyle/>
                    <a:p>
                      <a:pPr indent="0" lvl="0" marL="0" marR="0" rtl="0" algn="l">
                        <a:lnSpc>
                          <a:spcPct val="100000"/>
                        </a:lnSpc>
                        <a:spcBef>
                          <a:spcPts val="0"/>
                        </a:spcBef>
                        <a:spcAft>
                          <a:spcPts val="0"/>
                        </a:spcAft>
                        <a:buClr>
                          <a:srgbClr val="E5E0DF"/>
                        </a:buClr>
                        <a:buSzPts val="1050"/>
                        <a:buFont typeface="Roboto"/>
                        <a:buNone/>
                      </a:pPr>
                      <a:r>
                        <a:rPr lang="en-US" sz="1050" u="none" cap="none" strike="noStrike">
                          <a:solidFill>
                            <a:srgbClr val="E5E0DF"/>
                          </a:solidFill>
                          <a:latin typeface="Roboto"/>
                          <a:ea typeface="Roboto"/>
                          <a:cs typeface="Roboto"/>
                          <a:sym typeface="Roboto"/>
                        </a:rPr>
                        <a:t>Experiencia personalizada</a:t>
                      </a:r>
                      <a:endParaRPr sz="1050" u="none" cap="none" strike="noStrike">
                        <a:latin typeface="Roboto"/>
                        <a:ea typeface="Roboto"/>
                        <a:cs typeface="Roboto"/>
                        <a:sym typeface="Roboto"/>
                      </a:endParaRPr>
                    </a:p>
                  </a:txBody>
                  <a:tcPr marT="4775" marB="4775" marR="141775" marL="141775" anchor="ctr">
                    <a:lnL cap="flat" cmpd="sng" w="12700">
                      <a:solidFill>
                        <a:srgbClr val="565656"/>
                      </a:solidFill>
                      <a:prstDash val="solid"/>
                      <a:round/>
                      <a:headEnd len="sm" w="sm" type="none"/>
                      <a:tailEnd len="sm" w="sm" type="none"/>
                    </a:lnL>
                    <a:lnR cap="flat" cmpd="sng" w="12700">
                      <a:solidFill>
                        <a:srgbClr val="565656"/>
                      </a:solidFill>
                      <a:prstDash val="solid"/>
                      <a:round/>
                      <a:headEnd len="sm" w="sm" type="none"/>
                      <a:tailEnd len="sm" w="sm" type="none"/>
                    </a:lnR>
                    <a:lnT cap="flat" cmpd="sng" w="12700">
                      <a:solidFill>
                        <a:srgbClr val="565656"/>
                      </a:solidFill>
                      <a:prstDash val="solid"/>
                      <a:round/>
                      <a:headEnd len="sm" w="sm" type="none"/>
                      <a:tailEnd len="sm" w="sm" type="none"/>
                    </a:lnT>
                    <a:lnB cap="flat" cmpd="sng" w="12700">
                      <a:solidFill>
                        <a:srgbClr val="565656"/>
                      </a:solidFill>
                      <a:prstDash val="solid"/>
                      <a:round/>
                      <a:headEnd len="sm" w="sm" type="none"/>
                      <a:tailEnd len="sm" w="sm" type="none"/>
                    </a:lnB>
                    <a:solidFill>
                      <a:srgbClr val="212121"/>
                    </a:solidFill>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8"/>
          <p:cNvSpPr/>
          <p:nvPr/>
        </p:nvSpPr>
        <p:spPr>
          <a:xfrm>
            <a:off x="496119" y="854348"/>
            <a:ext cx="1085850" cy="215354"/>
          </a:xfrm>
          <a:prstGeom prst="roundRect">
            <a:avLst>
              <a:gd fmla="val 7900"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8"/>
          <p:cNvSpPr/>
          <p:nvPr/>
        </p:nvSpPr>
        <p:spPr>
          <a:xfrm>
            <a:off x="581174" y="896838"/>
            <a:ext cx="1372939" cy="13037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850"/>
              <a:buFont typeface="Roboto"/>
              <a:buNone/>
            </a:pPr>
            <a:r>
              <a:rPr b="0" i="0" lang="en-US" sz="850" u="none" cap="none" strike="noStrike">
                <a:solidFill>
                  <a:srgbClr val="DCFF50"/>
                </a:solidFill>
                <a:latin typeface="Roboto"/>
                <a:ea typeface="Roboto"/>
                <a:cs typeface="Roboto"/>
                <a:sym typeface="Roboto"/>
              </a:rPr>
              <a:t>REQUERIMIENTOS</a:t>
            </a:r>
            <a:endParaRPr b="0" i="0" sz="850" u="none" cap="none" strike="noStrike">
              <a:solidFill>
                <a:schemeClr val="dk1"/>
              </a:solidFill>
              <a:latin typeface="Calibri"/>
              <a:ea typeface="Calibri"/>
              <a:cs typeface="Calibri"/>
              <a:sym typeface="Calibri"/>
            </a:endParaRPr>
          </a:p>
        </p:txBody>
      </p:sp>
      <p:sp>
        <p:nvSpPr>
          <p:cNvPr id="150" name="Google Shape;150;p8"/>
          <p:cNvSpPr/>
          <p:nvPr/>
        </p:nvSpPr>
        <p:spPr>
          <a:xfrm>
            <a:off x="496119" y="1126406"/>
            <a:ext cx="8151763" cy="885974"/>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Requerimientos Funcionales y No Funcionales</a:t>
            </a:r>
            <a:endParaRPr b="0" i="0" sz="2650" u="none" cap="none" strike="noStrike">
              <a:solidFill>
                <a:schemeClr val="dk1"/>
              </a:solidFill>
              <a:latin typeface="Calibri"/>
              <a:ea typeface="Calibri"/>
              <a:cs typeface="Calibri"/>
              <a:sym typeface="Calibri"/>
            </a:endParaRPr>
          </a:p>
        </p:txBody>
      </p:sp>
      <p:sp>
        <p:nvSpPr>
          <p:cNvPr id="151" name="Google Shape;151;p8"/>
          <p:cNvSpPr/>
          <p:nvPr/>
        </p:nvSpPr>
        <p:spPr>
          <a:xfrm>
            <a:off x="394022" y="2224980"/>
            <a:ext cx="4107135" cy="2064097"/>
          </a:xfrm>
          <a:prstGeom prst="roundRect">
            <a:avLst>
              <a:gd fmla="val 1030" name="adj"/>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2" name="Google Shape;152;p8"/>
          <p:cNvSpPr/>
          <p:nvPr/>
        </p:nvSpPr>
        <p:spPr>
          <a:xfrm>
            <a:off x="535781" y="2366739"/>
            <a:ext cx="3823618"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000000"/>
              </a:buClr>
              <a:buSzPts val="1300"/>
              <a:buFont typeface="Roboto Mono Medium"/>
              <a:buNone/>
            </a:pPr>
            <a:r>
              <a:rPr b="0" i="0" lang="en-US" sz="1300" u="none" cap="none" strike="noStrike">
                <a:solidFill>
                  <a:srgbClr val="000000"/>
                </a:solidFill>
                <a:latin typeface="Roboto Mono Medium"/>
                <a:ea typeface="Roboto Mono Medium"/>
                <a:cs typeface="Roboto Mono Medium"/>
                <a:sym typeface="Roboto Mono Medium"/>
              </a:rPr>
              <a:t>Requerimientos Funcionales</a:t>
            </a:r>
            <a:endParaRPr b="0" i="0" sz="1300" u="none" cap="none" strike="noStrike">
              <a:solidFill>
                <a:schemeClr val="dk1"/>
              </a:solidFill>
              <a:latin typeface="Calibri"/>
              <a:ea typeface="Calibri"/>
              <a:cs typeface="Calibri"/>
              <a:sym typeface="Calibri"/>
            </a:endParaRPr>
          </a:p>
        </p:txBody>
      </p:sp>
      <p:sp>
        <p:nvSpPr>
          <p:cNvPr id="153" name="Google Shape;153;p8"/>
          <p:cNvSpPr/>
          <p:nvPr/>
        </p:nvSpPr>
        <p:spPr>
          <a:xfrm>
            <a:off x="535781" y="2729954"/>
            <a:ext cx="3823618" cy="1509564"/>
          </a:xfrm>
          <a:prstGeom prst="rect">
            <a:avLst/>
          </a:prstGeom>
          <a:noFill/>
          <a:ln>
            <a:noFill/>
          </a:ln>
        </p:spPr>
        <p:txBody>
          <a:bodyPr anchorCtr="0" anchor="t" bIns="0" lIns="0" spcFirstLastPara="1" rIns="0" wrap="square" tIns="0">
            <a:noAutofit/>
          </a:bodyPr>
          <a:lstStyle/>
          <a:p>
            <a:pPr indent="-213360" lvl="0" marL="213360" marR="0" rtl="0" algn="l">
              <a:lnSpc>
                <a:spcPct val="133000"/>
              </a:lnSpc>
              <a:spcBef>
                <a:spcPts val="0"/>
              </a:spcBef>
              <a:spcAft>
                <a:spcPts val="0"/>
              </a:spcAft>
              <a:buClr>
                <a:srgbClr val="000000"/>
              </a:buClr>
              <a:buSzPts val="1050"/>
              <a:buFont typeface="Roboto"/>
              <a:buChar char="•"/>
            </a:pPr>
            <a:r>
              <a:rPr b="1" i="0" lang="en-US" sz="1050" u="none" cap="none" strike="noStrike">
                <a:solidFill>
                  <a:srgbClr val="000000"/>
                </a:solidFill>
                <a:latin typeface="Roboto"/>
                <a:ea typeface="Roboto"/>
                <a:cs typeface="Roboto"/>
                <a:sym typeface="Roboto"/>
              </a:rPr>
              <a:t>RF1:</a:t>
            </a:r>
            <a:r>
              <a:rPr b="0" i="0" lang="en-US" sz="1050" u="none" cap="none" strike="noStrike">
                <a:solidFill>
                  <a:srgbClr val="000000"/>
                </a:solidFill>
                <a:latin typeface="Roboto"/>
                <a:ea typeface="Roboto"/>
                <a:cs typeface="Roboto"/>
                <a:sym typeface="Roboto"/>
              </a:rPr>
              <a:t> Catalogación </a:t>
            </a:r>
            <a:r>
              <a:rPr lang="en-US" sz="1050">
                <a:latin typeface="Roboto"/>
                <a:ea typeface="Roboto"/>
                <a:cs typeface="Roboto"/>
                <a:sym typeface="Roboto"/>
              </a:rPr>
              <a:t>de cartas.</a:t>
            </a:r>
            <a:endParaRPr b="0" i="0" sz="1050" u="none" cap="none" strike="noStrike">
              <a:solidFill>
                <a:schemeClr val="dk1"/>
              </a:solidFill>
              <a:latin typeface="Calibri"/>
              <a:ea typeface="Calibri"/>
              <a:cs typeface="Calibri"/>
              <a:sym typeface="Calibri"/>
            </a:endParaRPr>
          </a:p>
          <a:p>
            <a:pPr indent="-213360" lvl="0" marL="213360" marR="0" rtl="0" algn="l">
              <a:lnSpc>
                <a:spcPct val="133000"/>
              </a:lnSpc>
              <a:spcBef>
                <a:spcPts val="0"/>
              </a:spcBef>
              <a:spcAft>
                <a:spcPts val="0"/>
              </a:spcAft>
              <a:buClr>
                <a:srgbClr val="000000"/>
              </a:buClr>
              <a:buSzPts val="1050"/>
              <a:buFont typeface="Roboto"/>
              <a:buChar char="•"/>
            </a:pPr>
            <a:r>
              <a:rPr b="1" i="0" lang="en-US" sz="1050" u="none" cap="none" strike="noStrike">
                <a:solidFill>
                  <a:srgbClr val="000000"/>
                </a:solidFill>
                <a:latin typeface="Roboto"/>
                <a:ea typeface="Roboto"/>
                <a:cs typeface="Roboto"/>
                <a:sym typeface="Roboto"/>
              </a:rPr>
              <a:t>RF2:</a:t>
            </a:r>
            <a:r>
              <a:rPr b="0" i="0" lang="en-US" sz="1050" u="none" cap="none" strike="noStrike">
                <a:solidFill>
                  <a:srgbClr val="000000"/>
                </a:solidFill>
                <a:latin typeface="Roboto"/>
                <a:ea typeface="Roboto"/>
                <a:cs typeface="Roboto"/>
                <a:sym typeface="Roboto"/>
              </a:rPr>
              <a:t> Deckbuilder </a:t>
            </a:r>
            <a:r>
              <a:rPr lang="en-US" sz="1050">
                <a:latin typeface="Roboto"/>
                <a:ea typeface="Roboto"/>
                <a:cs typeface="Roboto"/>
                <a:sym typeface="Roboto"/>
              </a:rPr>
              <a:t>y</a:t>
            </a:r>
            <a:r>
              <a:rPr b="0" i="0" lang="en-US" sz="1050" u="none" cap="none" strike="noStrike">
                <a:solidFill>
                  <a:srgbClr val="000000"/>
                </a:solidFill>
                <a:latin typeface="Roboto"/>
                <a:ea typeface="Roboto"/>
                <a:cs typeface="Roboto"/>
                <a:sym typeface="Roboto"/>
              </a:rPr>
              <a:t> Validador</a:t>
            </a:r>
            <a:r>
              <a:rPr lang="en-US" sz="1050">
                <a:latin typeface="Roboto"/>
                <a:ea typeface="Roboto"/>
                <a:cs typeface="Roboto"/>
                <a:sym typeface="Roboto"/>
              </a:rPr>
              <a:t>.</a:t>
            </a:r>
            <a:endParaRPr b="0" i="0" sz="1050" u="none" cap="none" strike="noStrike">
              <a:solidFill>
                <a:schemeClr val="dk1"/>
              </a:solidFill>
              <a:latin typeface="Calibri"/>
              <a:ea typeface="Calibri"/>
              <a:cs typeface="Calibri"/>
              <a:sym typeface="Calibri"/>
            </a:endParaRPr>
          </a:p>
          <a:p>
            <a:pPr indent="-213360" lvl="0" marL="213360" marR="0" rtl="0" algn="l">
              <a:lnSpc>
                <a:spcPct val="133000"/>
              </a:lnSpc>
              <a:spcBef>
                <a:spcPts val="0"/>
              </a:spcBef>
              <a:spcAft>
                <a:spcPts val="0"/>
              </a:spcAft>
              <a:buClr>
                <a:srgbClr val="000000"/>
              </a:buClr>
              <a:buSzPts val="1050"/>
              <a:buFont typeface="Roboto"/>
              <a:buChar char="•"/>
            </a:pPr>
            <a:r>
              <a:rPr b="1" i="0" lang="en-US" sz="1050" u="none" cap="none" strike="noStrike">
                <a:solidFill>
                  <a:srgbClr val="000000"/>
                </a:solidFill>
                <a:latin typeface="Roboto"/>
                <a:ea typeface="Roboto"/>
                <a:cs typeface="Roboto"/>
                <a:sym typeface="Roboto"/>
              </a:rPr>
              <a:t>RF3:</a:t>
            </a:r>
            <a:r>
              <a:rPr b="0" i="0" lang="en-US" sz="1050" u="none" cap="none" strike="noStrike">
                <a:solidFill>
                  <a:srgbClr val="000000"/>
                </a:solidFill>
                <a:latin typeface="Roboto"/>
                <a:ea typeface="Roboto"/>
                <a:cs typeface="Roboto"/>
                <a:sym typeface="Roboto"/>
              </a:rPr>
              <a:t> Simulador </a:t>
            </a:r>
            <a:r>
              <a:rPr lang="en-US" sz="1050">
                <a:latin typeface="Roboto"/>
                <a:ea typeface="Roboto"/>
                <a:cs typeface="Roboto"/>
                <a:sym typeface="Roboto"/>
              </a:rPr>
              <a:t>de </a:t>
            </a:r>
            <a:r>
              <a:rPr b="0" i="0" lang="en-US" sz="1050" u="none" cap="none" strike="noStrike">
                <a:solidFill>
                  <a:srgbClr val="000000"/>
                </a:solidFill>
                <a:latin typeface="Roboto"/>
                <a:ea typeface="Roboto"/>
                <a:cs typeface="Roboto"/>
                <a:sym typeface="Roboto"/>
              </a:rPr>
              <a:t>mulligan y curva de oro.</a:t>
            </a:r>
            <a:endParaRPr b="0" i="0" sz="1050" u="none" cap="none" strike="noStrike">
              <a:solidFill>
                <a:schemeClr val="dk1"/>
              </a:solidFill>
              <a:latin typeface="Calibri"/>
              <a:ea typeface="Calibri"/>
              <a:cs typeface="Calibri"/>
              <a:sym typeface="Calibri"/>
            </a:endParaRPr>
          </a:p>
          <a:p>
            <a:pPr indent="-213360" lvl="0" marL="213360" marR="0" rtl="0" algn="l">
              <a:lnSpc>
                <a:spcPct val="133000"/>
              </a:lnSpc>
              <a:spcBef>
                <a:spcPts val="0"/>
              </a:spcBef>
              <a:spcAft>
                <a:spcPts val="0"/>
              </a:spcAft>
              <a:buClr>
                <a:srgbClr val="000000"/>
              </a:buClr>
              <a:buSzPts val="1050"/>
              <a:buFont typeface="Roboto"/>
              <a:buChar char="•"/>
            </a:pPr>
            <a:r>
              <a:rPr b="1" i="0" lang="en-US" sz="1050" u="none" cap="none" strike="noStrike">
                <a:solidFill>
                  <a:srgbClr val="000000"/>
                </a:solidFill>
                <a:latin typeface="Roboto"/>
                <a:ea typeface="Roboto"/>
                <a:cs typeface="Roboto"/>
                <a:sym typeface="Roboto"/>
              </a:rPr>
              <a:t>RF4:</a:t>
            </a:r>
            <a:r>
              <a:rPr b="0" i="0" lang="en-US" sz="1050" u="none" cap="none" strike="noStrike">
                <a:solidFill>
                  <a:srgbClr val="000000"/>
                </a:solidFill>
                <a:latin typeface="Roboto"/>
                <a:ea typeface="Roboto"/>
                <a:cs typeface="Roboto"/>
                <a:sym typeface="Roboto"/>
              </a:rPr>
              <a:t> </a:t>
            </a:r>
            <a:r>
              <a:rPr lang="en-US" sz="1050">
                <a:latin typeface="Roboto"/>
                <a:ea typeface="Roboto"/>
                <a:cs typeface="Roboto"/>
                <a:sym typeface="Roboto"/>
              </a:rPr>
              <a:t>Metagame Analytics </a:t>
            </a:r>
            <a:r>
              <a:rPr b="0" i="0" lang="en-US" sz="1050" u="none" cap="none" strike="noStrike">
                <a:solidFill>
                  <a:srgbClr val="000000"/>
                </a:solidFill>
                <a:latin typeface="Roboto"/>
                <a:ea typeface="Roboto"/>
                <a:cs typeface="Roboto"/>
                <a:sym typeface="Roboto"/>
              </a:rPr>
              <a:t>.</a:t>
            </a:r>
            <a:endParaRPr sz="1050">
              <a:latin typeface="Roboto"/>
              <a:ea typeface="Roboto"/>
              <a:cs typeface="Roboto"/>
              <a:sym typeface="Roboto"/>
            </a:endParaRPr>
          </a:p>
          <a:p>
            <a:pPr indent="-213360" lvl="0" marL="213360" marR="0" rtl="0" algn="l">
              <a:lnSpc>
                <a:spcPct val="133000"/>
              </a:lnSpc>
              <a:spcBef>
                <a:spcPts val="0"/>
              </a:spcBef>
              <a:spcAft>
                <a:spcPts val="0"/>
              </a:spcAft>
              <a:buClr>
                <a:srgbClr val="000000"/>
              </a:buClr>
              <a:buSzPts val="1050"/>
              <a:buFont typeface="Roboto"/>
              <a:buChar char="•"/>
            </a:pPr>
            <a:r>
              <a:rPr b="1" lang="en-US" sz="1050">
                <a:solidFill>
                  <a:schemeClr val="dk1"/>
                </a:solidFill>
                <a:latin typeface="Roboto"/>
                <a:ea typeface="Roboto"/>
                <a:cs typeface="Roboto"/>
                <a:sym typeface="Roboto"/>
              </a:rPr>
              <a:t>RF5:</a:t>
            </a:r>
            <a:r>
              <a:rPr lang="en-US" sz="1050">
                <a:solidFill>
                  <a:schemeClr val="dk1"/>
                </a:solidFill>
                <a:latin typeface="Roboto"/>
                <a:ea typeface="Roboto"/>
                <a:cs typeface="Roboto"/>
                <a:sym typeface="Roboto"/>
              </a:rPr>
              <a:t> Gestión Comunitarias .</a:t>
            </a:r>
            <a:endParaRPr sz="1050">
              <a:latin typeface="Roboto"/>
              <a:ea typeface="Roboto"/>
              <a:cs typeface="Roboto"/>
              <a:sym typeface="Roboto"/>
            </a:endParaRPr>
          </a:p>
        </p:txBody>
      </p:sp>
      <p:sp>
        <p:nvSpPr>
          <p:cNvPr id="154" name="Google Shape;154;p8"/>
          <p:cNvSpPr/>
          <p:nvPr/>
        </p:nvSpPr>
        <p:spPr>
          <a:xfrm>
            <a:off x="4749701" y="2366739"/>
            <a:ext cx="3902943"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300"/>
              <a:buFont typeface="Roboto Mono Medium"/>
              <a:buNone/>
            </a:pPr>
            <a:r>
              <a:rPr b="0" i="0" lang="en-US" sz="1300" u="none" cap="none" strike="noStrike">
                <a:solidFill>
                  <a:srgbClr val="FFFFFF"/>
                </a:solidFill>
                <a:latin typeface="Roboto Mono Medium"/>
                <a:ea typeface="Roboto Mono Medium"/>
                <a:cs typeface="Roboto Mono Medium"/>
                <a:sym typeface="Roboto Mono Medium"/>
              </a:rPr>
              <a:t>Requerimientos No Funcionales</a:t>
            </a:r>
            <a:endParaRPr b="0" i="0" sz="1300" u="none" cap="none" strike="noStrike">
              <a:solidFill>
                <a:schemeClr val="dk1"/>
              </a:solidFill>
              <a:latin typeface="Calibri"/>
              <a:ea typeface="Calibri"/>
              <a:cs typeface="Calibri"/>
              <a:sym typeface="Calibri"/>
            </a:endParaRPr>
          </a:p>
        </p:txBody>
      </p:sp>
      <p:sp>
        <p:nvSpPr>
          <p:cNvPr id="155" name="Google Shape;155;p8"/>
          <p:cNvSpPr/>
          <p:nvPr/>
        </p:nvSpPr>
        <p:spPr>
          <a:xfrm>
            <a:off x="4749700" y="2729926"/>
            <a:ext cx="4360200" cy="1559100"/>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RNF1:</a:t>
            </a:r>
            <a:r>
              <a:rPr b="0" i="0" lang="en-US" sz="1050" u="none" cap="none" strike="noStrike">
                <a:solidFill>
                  <a:srgbClr val="E5E0DF"/>
                </a:solidFill>
                <a:latin typeface="Roboto"/>
                <a:ea typeface="Roboto"/>
                <a:cs typeface="Roboto"/>
                <a:sym typeface="Roboto"/>
              </a:rPr>
              <a:t> Velocidad de carga &lt; 2s mediante CDN </a:t>
            </a:r>
            <a:r>
              <a:rPr b="0" i="0" lang="en-US" sz="1050" u="sng" cap="none" strike="noStrike">
                <a:solidFill>
                  <a:schemeClr val="hlink"/>
                </a:solidFill>
                <a:latin typeface="Roboto"/>
                <a:ea typeface="Roboto"/>
                <a:cs typeface="Roboto"/>
                <a:sym typeface="Roboto"/>
                <a:hlinkClick r:id="rId3"/>
              </a:rPr>
              <a:t>Bunny.net</a:t>
            </a:r>
            <a:r>
              <a:rPr b="0" i="0" lang="en-US" sz="1050" u="none" cap="none" strike="noStrike">
                <a:solidFill>
                  <a:srgbClr val="E5E0DF"/>
                </a:solidFill>
                <a:latin typeface="Roboto"/>
                <a:ea typeface="Roboto"/>
                <a:cs typeface="Roboto"/>
                <a:sym typeface="Roboto"/>
              </a:rPr>
              <a:t>.</a:t>
            </a:r>
            <a:endParaRPr b="0" i="0" sz="1050" u="none" cap="none" strike="noStrike">
              <a:solidFill>
                <a:srgbClr val="E5E0DF"/>
              </a:solidFill>
              <a:latin typeface="Roboto"/>
              <a:ea typeface="Roboto"/>
              <a:cs typeface="Roboto"/>
              <a:sym typeface="Roboto"/>
            </a:endParaRPr>
          </a:p>
          <a:p>
            <a:pPr indent="0" lvl="0" marL="0" marR="0" rtl="0" algn="l">
              <a:lnSpc>
                <a:spcPct val="133000"/>
              </a:lnSpc>
              <a:spcBef>
                <a:spcPts val="0"/>
              </a:spcBef>
              <a:spcAft>
                <a:spcPts val="0"/>
              </a:spcAft>
              <a:buClr>
                <a:srgbClr val="E5E0DF"/>
              </a:buClr>
              <a:buSzPts val="1050"/>
              <a:buFont typeface="Roboto"/>
              <a:buNone/>
            </a:pPr>
            <a:r>
              <a:rPr lang="en-US" sz="1050">
                <a:solidFill>
                  <a:srgbClr val="E5E0DF"/>
                </a:solidFill>
                <a:latin typeface="Roboto"/>
                <a:ea typeface="Roboto"/>
                <a:cs typeface="Roboto"/>
                <a:sym typeface="Roboto"/>
              </a:rPr>
              <a:t>RNF2 – Escalabilidad &amp; Alta Disponibilidad </a:t>
            </a:r>
            <a:endParaRPr sz="1050">
              <a:solidFill>
                <a:srgbClr val="E5E0DF"/>
              </a:solidFill>
              <a:latin typeface="Roboto"/>
              <a:ea typeface="Roboto"/>
              <a:cs typeface="Roboto"/>
              <a:sym typeface="Roboto"/>
            </a:endParaRPr>
          </a:p>
          <a:p>
            <a:pPr indent="0" lvl="0" marL="0" marR="0" rtl="0" algn="l">
              <a:lnSpc>
                <a:spcPct val="133000"/>
              </a:lnSpc>
              <a:spcBef>
                <a:spcPts val="0"/>
              </a:spcBef>
              <a:spcAft>
                <a:spcPts val="0"/>
              </a:spcAft>
              <a:buClr>
                <a:srgbClr val="E5E0DF"/>
              </a:buClr>
              <a:buSzPts val="1050"/>
              <a:buFont typeface="Roboto"/>
              <a:buNone/>
            </a:pPr>
            <a:r>
              <a:rPr lang="en-US" sz="1050">
                <a:solidFill>
                  <a:srgbClr val="E5E0DF"/>
                </a:solidFill>
                <a:latin typeface="Roboto"/>
                <a:ea typeface="Roboto"/>
                <a:cs typeface="Roboto"/>
                <a:sym typeface="Roboto"/>
              </a:rPr>
              <a:t>RNF3 – Seguridad: Control de acceso mediante autenticación cifrada y reglas de seguridad de datos en la base de datos NoSQL. </a:t>
            </a:r>
            <a:endParaRPr sz="1050">
              <a:solidFill>
                <a:srgbClr val="E5E0DF"/>
              </a:solidFill>
              <a:latin typeface="Roboto"/>
              <a:ea typeface="Roboto"/>
              <a:cs typeface="Roboto"/>
              <a:sym typeface="Robo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0" name="Shape 160"/>
        <p:cNvGrpSpPr/>
        <p:nvPr/>
      </p:nvGrpSpPr>
      <p:grpSpPr>
        <a:xfrm>
          <a:off x="0" y="0"/>
          <a:ext cx="0" cy="0"/>
          <a:chOff x="0" y="0"/>
          <a:chExt cx="0" cy="0"/>
        </a:xfrm>
      </p:grpSpPr>
      <p:sp>
        <p:nvSpPr>
          <p:cNvPr id="161" name="Google Shape;161;p9"/>
          <p:cNvSpPr/>
          <p:nvPr/>
        </p:nvSpPr>
        <p:spPr>
          <a:xfrm>
            <a:off x="496119" y="444475"/>
            <a:ext cx="8151763"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00"/>
              <a:buFont typeface="Roboto Mono Medium"/>
              <a:buNone/>
            </a:pPr>
            <a:r>
              <a:rPr b="0" i="0" lang="en-US" sz="2600" u="none" cap="none" strike="noStrike">
                <a:solidFill>
                  <a:srgbClr val="FFFFFF"/>
                </a:solidFill>
                <a:latin typeface="Roboto Mono Medium"/>
                <a:ea typeface="Roboto Mono Medium"/>
                <a:cs typeface="Roboto Mono Medium"/>
                <a:sym typeface="Roboto Mono Medium"/>
              </a:rPr>
              <a:t>Stack Tecnológico</a:t>
            </a:r>
            <a:endParaRPr b="0" i="0" sz="2600" u="none" cap="none" strike="noStrike">
              <a:solidFill>
                <a:schemeClr val="dk1"/>
              </a:solidFill>
              <a:latin typeface="Calibri"/>
              <a:ea typeface="Calibri"/>
              <a:cs typeface="Calibri"/>
              <a:sym typeface="Calibri"/>
            </a:endParaRPr>
          </a:p>
        </p:txBody>
      </p:sp>
      <p:pic>
        <p:nvPicPr>
          <p:cNvPr descr="preencoded.png" id="162" name="Google Shape;162;p9"/>
          <p:cNvPicPr preferRelativeResize="0"/>
          <p:nvPr/>
        </p:nvPicPr>
        <p:blipFill rotWithShape="1">
          <a:blip r:embed="rId3">
            <a:alphaModFix/>
          </a:blip>
          <a:srcRect b="0" l="0" r="0" t="0"/>
          <a:stretch/>
        </p:blipFill>
        <p:spPr>
          <a:xfrm>
            <a:off x="496119" y="1155278"/>
            <a:ext cx="1520428" cy="3543746"/>
          </a:xfrm>
          <a:prstGeom prst="rect">
            <a:avLst/>
          </a:prstGeom>
          <a:noFill/>
          <a:ln>
            <a:noFill/>
          </a:ln>
        </p:spPr>
      </p:pic>
      <p:sp>
        <p:nvSpPr>
          <p:cNvPr id="163" name="Google Shape;163;p9"/>
          <p:cNvSpPr/>
          <p:nvPr/>
        </p:nvSpPr>
        <p:spPr>
          <a:xfrm>
            <a:off x="730895" y="1313855"/>
            <a:ext cx="1127075" cy="218033"/>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Frontend</a:t>
            </a:r>
            <a:endParaRPr b="0" i="0" sz="1300" u="none" cap="none" strike="noStrike">
              <a:solidFill>
                <a:schemeClr val="dk1"/>
              </a:solidFill>
              <a:latin typeface="Calibri"/>
              <a:ea typeface="Calibri"/>
              <a:cs typeface="Calibri"/>
              <a:sym typeface="Calibri"/>
            </a:endParaRPr>
          </a:p>
        </p:txBody>
      </p:sp>
      <p:sp>
        <p:nvSpPr>
          <p:cNvPr id="164" name="Google Shape;164;p9"/>
          <p:cNvSpPr/>
          <p:nvPr/>
        </p:nvSpPr>
        <p:spPr>
          <a:xfrm>
            <a:off x="730895" y="1614264"/>
            <a:ext cx="1127075" cy="885825"/>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Next.js (React)</a:t>
            </a:r>
            <a:r>
              <a:rPr b="0" i="0" lang="en-US" sz="1050" u="none" cap="none" strike="noStrike">
                <a:solidFill>
                  <a:srgbClr val="E5E0DF"/>
                </a:solidFill>
                <a:latin typeface="Roboto"/>
                <a:ea typeface="Roboto"/>
                <a:cs typeface="Roboto"/>
                <a:sym typeface="Roboto"/>
              </a:rPr>
              <a:t> + </a:t>
            </a:r>
            <a:r>
              <a:rPr b="1" i="0" lang="en-US" sz="1050" u="none" cap="none" strike="noStrike">
                <a:solidFill>
                  <a:srgbClr val="E5E0DF"/>
                </a:solidFill>
                <a:latin typeface="Roboto"/>
                <a:ea typeface="Roboto"/>
                <a:cs typeface="Roboto"/>
                <a:sym typeface="Roboto"/>
              </a:rPr>
              <a:t>Tailwind CSS</a:t>
            </a:r>
            <a:r>
              <a:rPr b="0" i="0" lang="en-US" sz="1050" u="none" cap="none" strike="noStrike">
                <a:solidFill>
                  <a:srgbClr val="E5E0DF"/>
                </a:solidFill>
                <a:latin typeface="Roboto"/>
                <a:ea typeface="Roboto"/>
                <a:cs typeface="Roboto"/>
                <a:sym typeface="Roboto"/>
              </a:rPr>
              <a:t> — UI/UX accesible e intuitiva.</a:t>
            </a:r>
            <a:endParaRPr b="0" i="0" sz="1050" u="none" cap="none" strike="noStrike">
              <a:solidFill>
                <a:schemeClr val="dk1"/>
              </a:solidFill>
              <a:latin typeface="Calibri"/>
              <a:ea typeface="Calibri"/>
              <a:cs typeface="Calibri"/>
              <a:sym typeface="Calibri"/>
            </a:endParaRPr>
          </a:p>
        </p:txBody>
      </p:sp>
      <p:pic>
        <p:nvPicPr>
          <p:cNvPr descr="preencoded.png" id="165" name="Google Shape;165;p9"/>
          <p:cNvPicPr preferRelativeResize="0"/>
          <p:nvPr/>
        </p:nvPicPr>
        <p:blipFill rotWithShape="1">
          <a:blip r:embed="rId4">
            <a:alphaModFix/>
          </a:blip>
          <a:srcRect b="0" l="0" r="0" t="0"/>
          <a:stretch/>
        </p:blipFill>
        <p:spPr>
          <a:xfrm>
            <a:off x="730895" y="2654573"/>
            <a:ext cx="1127075" cy="1127075"/>
          </a:xfrm>
          <a:prstGeom prst="rect">
            <a:avLst/>
          </a:prstGeom>
          <a:noFill/>
          <a:ln>
            <a:noFill/>
          </a:ln>
        </p:spPr>
      </p:pic>
      <p:pic>
        <p:nvPicPr>
          <p:cNvPr descr="preencoded.png" id="166" name="Google Shape;166;p9"/>
          <p:cNvPicPr preferRelativeResize="0"/>
          <p:nvPr/>
        </p:nvPicPr>
        <p:blipFill rotWithShape="1">
          <a:blip r:embed="rId3">
            <a:alphaModFix/>
          </a:blip>
          <a:srcRect b="0" l="0" r="0" t="0"/>
          <a:stretch/>
        </p:blipFill>
        <p:spPr>
          <a:xfrm>
            <a:off x="2153915" y="1155278"/>
            <a:ext cx="1520428" cy="3543746"/>
          </a:xfrm>
          <a:prstGeom prst="rect">
            <a:avLst/>
          </a:prstGeom>
          <a:noFill/>
          <a:ln>
            <a:noFill/>
          </a:ln>
        </p:spPr>
      </p:pic>
      <p:sp>
        <p:nvSpPr>
          <p:cNvPr id="167" name="Google Shape;167;p9"/>
          <p:cNvSpPr/>
          <p:nvPr/>
        </p:nvSpPr>
        <p:spPr>
          <a:xfrm>
            <a:off x="2388691" y="1313855"/>
            <a:ext cx="1127075"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Lógica de Negocio</a:t>
            </a:r>
            <a:endParaRPr b="0" i="0" sz="1300" u="none" cap="none" strike="noStrike">
              <a:solidFill>
                <a:schemeClr val="dk1"/>
              </a:solidFill>
              <a:latin typeface="Calibri"/>
              <a:ea typeface="Calibri"/>
              <a:cs typeface="Calibri"/>
              <a:sym typeface="Calibri"/>
            </a:endParaRPr>
          </a:p>
        </p:txBody>
      </p:sp>
      <p:sp>
        <p:nvSpPr>
          <p:cNvPr id="168" name="Google Shape;168;p9"/>
          <p:cNvSpPr/>
          <p:nvPr/>
        </p:nvSpPr>
        <p:spPr>
          <a:xfrm>
            <a:off x="2388691" y="1832297"/>
            <a:ext cx="1127075" cy="885825"/>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TypeScript</a:t>
            </a:r>
            <a:r>
              <a:rPr b="0" i="0" lang="en-US" sz="1050" u="none" cap="none" strike="noStrike">
                <a:solidFill>
                  <a:srgbClr val="E5E0DF"/>
                </a:solidFill>
                <a:latin typeface="Roboto"/>
                <a:ea typeface="Roboto"/>
                <a:cs typeface="Roboto"/>
                <a:sym typeface="Roboto"/>
              </a:rPr>
              <a:t> Filtros de origen y cálculo estadístico.</a:t>
            </a:r>
            <a:endParaRPr b="0" i="0" sz="1050" u="none" cap="none" strike="noStrike">
              <a:solidFill>
                <a:schemeClr val="dk1"/>
              </a:solidFill>
              <a:latin typeface="Calibri"/>
              <a:ea typeface="Calibri"/>
              <a:cs typeface="Calibri"/>
              <a:sym typeface="Calibri"/>
            </a:endParaRPr>
          </a:p>
        </p:txBody>
      </p:sp>
      <p:pic>
        <p:nvPicPr>
          <p:cNvPr descr="preencoded.png" id="169" name="Google Shape;169;p9"/>
          <p:cNvPicPr preferRelativeResize="0"/>
          <p:nvPr/>
        </p:nvPicPr>
        <p:blipFill rotWithShape="1">
          <a:blip r:embed="rId5">
            <a:alphaModFix/>
          </a:blip>
          <a:srcRect b="0" l="0" r="0" t="0"/>
          <a:stretch/>
        </p:blipFill>
        <p:spPr>
          <a:xfrm>
            <a:off x="2388691" y="2872606"/>
            <a:ext cx="1127075" cy="1127075"/>
          </a:xfrm>
          <a:prstGeom prst="rect">
            <a:avLst/>
          </a:prstGeom>
          <a:noFill/>
          <a:ln>
            <a:noFill/>
          </a:ln>
        </p:spPr>
      </p:pic>
      <p:pic>
        <p:nvPicPr>
          <p:cNvPr descr="preencoded.png" id="170" name="Google Shape;170;p9"/>
          <p:cNvPicPr preferRelativeResize="0"/>
          <p:nvPr/>
        </p:nvPicPr>
        <p:blipFill rotWithShape="1">
          <a:blip r:embed="rId3">
            <a:alphaModFix/>
          </a:blip>
          <a:srcRect b="0" l="0" r="0" t="0"/>
          <a:stretch/>
        </p:blipFill>
        <p:spPr>
          <a:xfrm>
            <a:off x="3811712" y="1155278"/>
            <a:ext cx="1520503" cy="3543746"/>
          </a:xfrm>
          <a:prstGeom prst="rect">
            <a:avLst/>
          </a:prstGeom>
          <a:noFill/>
          <a:ln>
            <a:noFill/>
          </a:ln>
        </p:spPr>
      </p:pic>
      <p:sp>
        <p:nvSpPr>
          <p:cNvPr id="171" name="Google Shape;171;p9"/>
          <p:cNvSpPr/>
          <p:nvPr/>
        </p:nvSpPr>
        <p:spPr>
          <a:xfrm>
            <a:off x="4046488" y="1313855"/>
            <a:ext cx="1127150"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Backend Cloud</a:t>
            </a:r>
            <a:endParaRPr b="0" i="0" sz="1300" u="none" cap="none" strike="noStrike">
              <a:solidFill>
                <a:schemeClr val="dk1"/>
              </a:solidFill>
              <a:latin typeface="Calibri"/>
              <a:ea typeface="Calibri"/>
              <a:cs typeface="Calibri"/>
              <a:sym typeface="Calibri"/>
            </a:endParaRPr>
          </a:p>
        </p:txBody>
      </p:sp>
      <p:sp>
        <p:nvSpPr>
          <p:cNvPr id="172" name="Google Shape;172;p9"/>
          <p:cNvSpPr/>
          <p:nvPr/>
        </p:nvSpPr>
        <p:spPr>
          <a:xfrm>
            <a:off x="4046488" y="1832297"/>
            <a:ext cx="1127150" cy="66436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Firebase Firestore</a:t>
            </a:r>
            <a:r>
              <a:rPr b="0" i="0" lang="en-US" sz="1050" u="none" cap="none" strike="noStrike">
                <a:solidFill>
                  <a:srgbClr val="E5E0DF"/>
                </a:solidFill>
                <a:latin typeface="Roboto"/>
                <a:ea typeface="Roboto"/>
                <a:cs typeface="Roboto"/>
                <a:sym typeface="Roboto"/>
              </a:rPr>
              <a:t> (BDD NoSQL) + </a:t>
            </a:r>
            <a:r>
              <a:rPr b="1" i="0" lang="en-US" sz="1050" u="none" cap="none" strike="noStrike">
                <a:solidFill>
                  <a:srgbClr val="E5E0DF"/>
                </a:solidFill>
                <a:latin typeface="Roboto"/>
                <a:ea typeface="Roboto"/>
                <a:cs typeface="Roboto"/>
                <a:sym typeface="Roboto"/>
              </a:rPr>
              <a:t>Firebase Auth</a:t>
            </a:r>
            <a:r>
              <a:rPr b="0" i="0" lang="en-US" sz="1050" u="none" cap="none" strike="noStrike">
                <a:solidFill>
                  <a:srgbClr val="E5E0DF"/>
                </a:solidFill>
                <a:latin typeface="Roboto"/>
                <a:ea typeface="Roboto"/>
                <a:cs typeface="Roboto"/>
                <a:sym typeface="Roboto"/>
              </a:rPr>
              <a:t>.</a:t>
            </a:r>
            <a:endParaRPr b="0" i="0" sz="1050" u="none" cap="none" strike="noStrike">
              <a:solidFill>
                <a:schemeClr val="dk1"/>
              </a:solidFill>
              <a:latin typeface="Calibri"/>
              <a:ea typeface="Calibri"/>
              <a:cs typeface="Calibri"/>
              <a:sym typeface="Calibri"/>
            </a:endParaRPr>
          </a:p>
        </p:txBody>
      </p:sp>
      <p:pic>
        <p:nvPicPr>
          <p:cNvPr descr="preencoded.png" id="173" name="Google Shape;173;p9"/>
          <p:cNvPicPr preferRelativeResize="0"/>
          <p:nvPr/>
        </p:nvPicPr>
        <p:blipFill rotWithShape="1">
          <a:blip r:embed="rId6">
            <a:alphaModFix/>
          </a:blip>
          <a:srcRect b="0" l="0" r="0" t="0"/>
          <a:stretch/>
        </p:blipFill>
        <p:spPr>
          <a:xfrm>
            <a:off x="4046488" y="2651150"/>
            <a:ext cx="1127150" cy="1127150"/>
          </a:xfrm>
          <a:prstGeom prst="rect">
            <a:avLst/>
          </a:prstGeom>
          <a:noFill/>
          <a:ln>
            <a:noFill/>
          </a:ln>
        </p:spPr>
      </p:pic>
      <p:sp>
        <p:nvSpPr>
          <p:cNvPr id="174" name="Google Shape;174;p9"/>
          <p:cNvSpPr/>
          <p:nvPr/>
        </p:nvSpPr>
        <p:spPr>
          <a:xfrm>
            <a:off x="4046488" y="3932783"/>
            <a:ext cx="1127150" cy="52528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p:txBody>
      </p:sp>
      <p:pic>
        <p:nvPicPr>
          <p:cNvPr descr="preencoded.png" id="175" name="Google Shape;175;p9"/>
          <p:cNvPicPr preferRelativeResize="0"/>
          <p:nvPr/>
        </p:nvPicPr>
        <p:blipFill rotWithShape="1">
          <a:blip r:embed="rId3">
            <a:alphaModFix/>
          </a:blip>
          <a:srcRect b="0" l="0" r="0" t="0"/>
          <a:stretch/>
        </p:blipFill>
        <p:spPr>
          <a:xfrm>
            <a:off x="5469582" y="1155278"/>
            <a:ext cx="1520428" cy="3543746"/>
          </a:xfrm>
          <a:prstGeom prst="rect">
            <a:avLst/>
          </a:prstGeom>
          <a:noFill/>
          <a:ln>
            <a:noFill/>
          </a:ln>
        </p:spPr>
      </p:pic>
      <p:sp>
        <p:nvSpPr>
          <p:cNvPr id="176" name="Google Shape;176;p9"/>
          <p:cNvSpPr/>
          <p:nvPr/>
        </p:nvSpPr>
        <p:spPr>
          <a:xfrm>
            <a:off x="5704359" y="1313855"/>
            <a:ext cx="1127075"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CDN Multimedia</a:t>
            </a:r>
            <a:endParaRPr b="0" i="0" sz="1300" u="none" cap="none" strike="noStrike">
              <a:solidFill>
                <a:schemeClr val="dk1"/>
              </a:solidFill>
              <a:latin typeface="Calibri"/>
              <a:ea typeface="Calibri"/>
              <a:cs typeface="Calibri"/>
              <a:sym typeface="Calibri"/>
            </a:endParaRPr>
          </a:p>
        </p:txBody>
      </p:sp>
      <p:sp>
        <p:nvSpPr>
          <p:cNvPr id="177" name="Google Shape;177;p9"/>
          <p:cNvSpPr/>
          <p:nvPr/>
        </p:nvSpPr>
        <p:spPr>
          <a:xfrm>
            <a:off x="5704359" y="1832297"/>
            <a:ext cx="1127075" cy="66436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Bunny.net Global CDN</a:t>
            </a:r>
            <a:r>
              <a:rPr b="0" i="0" lang="en-US" sz="1050" u="none" cap="none" strike="noStrike">
                <a:solidFill>
                  <a:srgbClr val="E5E0DF"/>
                </a:solidFill>
                <a:latin typeface="Roboto"/>
                <a:ea typeface="Roboto"/>
                <a:cs typeface="Roboto"/>
                <a:sym typeface="Roboto"/>
              </a:rPr>
              <a:t> imágenes a alta velocidad.</a:t>
            </a:r>
            <a:endParaRPr b="0" i="0" sz="1050" u="none" cap="none" strike="noStrike">
              <a:solidFill>
                <a:schemeClr val="dk1"/>
              </a:solidFill>
              <a:latin typeface="Calibri"/>
              <a:ea typeface="Calibri"/>
              <a:cs typeface="Calibri"/>
              <a:sym typeface="Calibri"/>
            </a:endParaRPr>
          </a:p>
        </p:txBody>
      </p:sp>
      <p:pic>
        <p:nvPicPr>
          <p:cNvPr descr="preencoded.png" id="178" name="Google Shape;178;p9"/>
          <p:cNvPicPr preferRelativeResize="0"/>
          <p:nvPr/>
        </p:nvPicPr>
        <p:blipFill rotWithShape="1">
          <a:blip r:embed="rId7">
            <a:alphaModFix/>
          </a:blip>
          <a:srcRect b="0" l="0" r="0" t="0"/>
          <a:stretch/>
        </p:blipFill>
        <p:spPr>
          <a:xfrm>
            <a:off x="5704359" y="2651150"/>
            <a:ext cx="1127075" cy="1127075"/>
          </a:xfrm>
          <a:prstGeom prst="rect">
            <a:avLst/>
          </a:prstGeom>
          <a:noFill/>
          <a:ln>
            <a:noFill/>
          </a:ln>
        </p:spPr>
      </p:pic>
      <p:sp>
        <p:nvSpPr>
          <p:cNvPr id="179" name="Google Shape;179;p9"/>
          <p:cNvSpPr/>
          <p:nvPr/>
        </p:nvSpPr>
        <p:spPr>
          <a:xfrm>
            <a:off x="5704359" y="3932709"/>
            <a:ext cx="1127075" cy="52528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p:txBody>
      </p:sp>
      <p:pic>
        <p:nvPicPr>
          <p:cNvPr descr="preencoded.png" id="180" name="Google Shape;180;p9"/>
          <p:cNvPicPr preferRelativeResize="0"/>
          <p:nvPr/>
        </p:nvPicPr>
        <p:blipFill rotWithShape="1">
          <a:blip r:embed="rId3">
            <a:alphaModFix/>
          </a:blip>
          <a:srcRect b="0" l="0" r="0" t="0"/>
          <a:stretch/>
        </p:blipFill>
        <p:spPr>
          <a:xfrm>
            <a:off x="7127379" y="1155278"/>
            <a:ext cx="1520503" cy="3543746"/>
          </a:xfrm>
          <a:prstGeom prst="rect">
            <a:avLst/>
          </a:prstGeom>
          <a:noFill/>
          <a:ln>
            <a:noFill/>
          </a:ln>
        </p:spPr>
      </p:pic>
      <p:sp>
        <p:nvSpPr>
          <p:cNvPr id="181" name="Google Shape;181;p9"/>
          <p:cNvSpPr/>
          <p:nvPr/>
        </p:nvSpPr>
        <p:spPr>
          <a:xfrm>
            <a:off x="7362155" y="1313855"/>
            <a:ext cx="1127150" cy="43606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Hosting &amp; Deployment</a:t>
            </a:r>
            <a:endParaRPr b="0" i="0" sz="1300" u="none" cap="none" strike="noStrike">
              <a:solidFill>
                <a:schemeClr val="dk1"/>
              </a:solidFill>
              <a:latin typeface="Calibri"/>
              <a:ea typeface="Calibri"/>
              <a:cs typeface="Calibri"/>
              <a:sym typeface="Calibri"/>
            </a:endParaRPr>
          </a:p>
        </p:txBody>
      </p:sp>
      <p:sp>
        <p:nvSpPr>
          <p:cNvPr id="182" name="Google Shape;182;p9"/>
          <p:cNvSpPr/>
          <p:nvPr/>
        </p:nvSpPr>
        <p:spPr>
          <a:xfrm>
            <a:off x="7362155" y="1832297"/>
            <a:ext cx="1127150" cy="746745"/>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rgbClr val="E5E0DF"/>
              </a:buClr>
              <a:buSzPts val="1050"/>
              <a:buFont typeface="Roboto"/>
              <a:buNone/>
            </a:pPr>
            <a:r>
              <a:rPr b="1" i="0" lang="en-US" sz="1050" u="none" cap="none" strike="noStrike">
                <a:solidFill>
                  <a:srgbClr val="E5E0DF"/>
                </a:solidFill>
                <a:latin typeface="Roboto"/>
                <a:ea typeface="Roboto"/>
                <a:cs typeface="Roboto"/>
                <a:sym typeface="Roboto"/>
              </a:rPr>
              <a:t>Desplegado en Vercel - </a:t>
            </a:r>
            <a:r>
              <a:rPr b="0" i="0" lang="en-US" sz="1050" u="none" cap="none" strike="noStrike">
                <a:solidFill>
                  <a:srgbClr val="E5E0DF"/>
                </a:solidFill>
                <a:latin typeface="Roboto"/>
                <a:ea typeface="Roboto"/>
                <a:cs typeface="Roboto"/>
                <a:sym typeface="Roboto"/>
              </a:rPr>
              <a:t>(CI/CD)</a:t>
            </a:r>
            <a:endParaRPr b="0" i="0" sz="1050" u="none" cap="none" strike="noStrike">
              <a:solidFill>
                <a:schemeClr val="dk1"/>
              </a:solidFill>
              <a:latin typeface="Calibri"/>
              <a:ea typeface="Calibri"/>
              <a:cs typeface="Calibri"/>
              <a:sym typeface="Calibri"/>
            </a:endParaRPr>
          </a:p>
        </p:txBody>
      </p:sp>
      <p:pic>
        <p:nvPicPr>
          <p:cNvPr descr="preencoded.png" id="183" name="Google Shape;183;p9"/>
          <p:cNvPicPr preferRelativeResize="0"/>
          <p:nvPr/>
        </p:nvPicPr>
        <p:blipFill rotWithShape="1">
          <a:blip r:embed="rId8">
            <a:alphaModFix/>
          </a:blip>
          <a:srcRect b="0" l="0" r="0" t="0"/>
          <a:stretch/>
        </p:blipFill>
        <p:spPr>
          <a:xfrm>
            <a:off x="7362155" y="2733526"/>
            <a:ext cx="1127150" cy="1127150"/>
          </a:xfrm>
          <a:prstGeom prst="rect">
            <a:avLst/>
          </a:prstGeom>
          <a:noFill/>
          <a:ln>
            <a:noFill/>
          </a:ln>
        </p:spPr>
      </p:pic>
      <p:sp>
        <p:nvSpPr>
          <p:cNvPr id="184" name="Google Shape;184;p9"/>
          <p:cNvSpPr/>
          <p:nvPr/>
        </p:nvSpPr>
        <p:spPr>
          <a:xfrm>
            <a:off x="7362155" y="4015160"/>
            <a:ext cx="1127150" cy="525289"/>
          </a:xfrm>
          <a:prstGeom prst="rect">
            <a:avLst/>
          </a:prstGeom>
          <a:noFill/>
          <a:ln>
            <a:noFill/>
          </a:ln>
        </p:spPr>
        <p:txBody>
          <a:bodyPr anchorCtr="0" anchor="t" bIns="0" lIns="0" spcFirstLastPara="1" rIns="0" wrap="square" tIns="0">
            <a:noAutofit/>
          </a:bodyPr>
          <a:lstStyle/>
          <a:p>
            <a:pPr indent="0" lvl="0" marL="0" marR="0" rtl="0" algn="l">
              <a:lnSpc>
                <a:spcPct val="132000"/>
              </a:lnSpc>
              <a:spcBef>
                <a:spcPts val="0"/>
              </a:spcBef>
              <a:spcAft>
                <a:spcPts val="0"/>
              </a:spcAft>
              <a:buClr>
                <a:schemeClr val="dk1"/>
              </a:buClr>
              <a:buSzPts val="1050"/>
              <a:buFont typeface="Calibri"/>
              <a:buNone/>
            </a:pPr>
            <a:r>
              <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0"/>
          <p:cNvSpPr/>
          <p:nvPr/>
        </p:nvSpPr>
        <p:spPr>
          <a:xfrm>
            <a:off x="496119" y="417463"/>
            <a:ext cx="933748" cy="215354"/>
          </a:xfrm>
          <a:prstGeom prst="roundRect">
            <a:avLst>
              <a:gd fmla="val 7900"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1" name="Google Shape;191;p10"/>
          <p:cNvSpPr/>
          <p:nvPr/>
        </p:nvSpPr>
        <p:spPr>
          <a:xfrm>
            <a:off x="581174" y="459953"/>
            <a:ext cx="1220837" cy="13037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850"/>
              <a:buFont typeface="Roboto"/>
              <a:buNone/>
            </a:pPr>
            <a:r>
              <a:rPr b="0" i="0" lang="en-US" sz="850" u="none" cap="none" strike="noStrike">
                <a:solidFill>
                  <a:srgbClr val="DCFF50"/>
                </a:solidFill>
                <a:latin typeface="Roboto"/>
                <a:ea typeface="Roboto"/>
                <a:cs typeface="Roboto"/>
                <a:sym typeface="Roboto"/>
              </a:rPr>
              <a:t>METODOLOGÍA</a:t>
            </a:r>
            <a:endParaRPr b="0" i="0" sz="850" u="none" cap="none" strike="noStrike">
              <a:solidFill>
                <a:schemeClr val="dk1"/>
              </a:solidFill>
              <a:latin typeface="Calibri"/>
              <a:ea typeface="Calibri"/>
              <a:cs typeface="Calibri"/>
              <a:sym typeface="Calibri"/>
            </a:endParaRPr>
          </a:p>
        </p:txBody>
      </p:sp>
      <p:sp>
        <p:nvSpPr>
          <p:cNvPr id="192" name="Google Shape;192;p10"/>
          <p:cNvSpPr/>
          <p:nvPr/>
        </p:nvSpPr>
        <p:spPr>
          <a:xfrm>
            <a:off x="496119" y="689521"/>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Metodología de Trabajo: Scrum / Kanban</a:t>
            </a:r>
            <a:endParaRPr b="0" i="0" sz="2650" u="none" cap="none" strike="noStrike">
              <a:solidFill>
                <a:schemeClr val="dk1"/>
              </a:solidFill>
              <a:latin typeface="Calibri"/>
              <a:ea typeface="Calibri"/>
              <a:cs typeface="Calibri"/>
              <a:sym typeface="Calibri"/>
            </a:endParaRPr>
          </a:p>
        </p:txBody>
      </p:sp>
      <p:sp>
        <p:nvSpPr>
          <p:cNvPr id="193" name="Google Shape;193;p10"/>
          <p:cNvSpPr/>
          <p:nvPr/>
        </p:nvSpPr>
        <p:spPr>
          <a:xfrm>
            <a:off x="496119" y="1345109"/>
            <a:ext cx="8608963"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El proyecto se estructura en </a:t>
            </a:r>
            <a:r>
              <a:rPr b="1" i="0" lang="en-US" sz="1050" u="none" cap="none" strike="noStrike">
                <a:solidFill>
                  <a:srgbClr val="E5E0DF"/>
                </a:solidFill>
                <a:latin typeface="Roboto"/>
                <a:ea typeface="Roboto"/>
                <a:cs typeface="Roboto"/>
                <a:sym typeface="Roboto"/>
              </a:rPr>
              <a:t>5 fases iterativas</a:t>
            </a:r>
            <a:r>
              <a:rPr b="0" i="0" lang="en-US" sz="1050" u="none" cap="none" strike="noStrike">
                <a:solidFill>
                  <a:srgbClr val="E5E0DF"/>
                </a:solidFill>
                <a:latin typeface="Roboto"/>
                <a:ea typeface="Roboto"/>
                <a:cs typeface="Roboto"/>
                <a:sym typeface="Roboto"/>
              </a:rPr>
              <a:t> que cubren desde la arquitectura base hasta el despliegue final en producción.</a:t>
            </a:r>
            <a:endParaRPr b="0" i="0" sz="1050" u="none" cap="none" strike="noStrike">
              <a:solidFill>
                <a:schemeClr val="dk1"/>
              </a:solidFill>
              <a:latin typeface="Calibri"/>
              <a:ea typeface="Calibri"/>
              <a:cs typeface="Calibri"/>
              <a:sym typeface="Calibri"/>
            </a:endParaRPr>
          </a:p>
        </p:txBody>
      </p:sp>
      <p:pic>
        <p:nvPicPr>
          <p:cNvPr descr="preencoded.png" id="194" name="Google Shape;194;p10"/>
          <p:cNvPicPr preferRelativeResize="0"/>
          <p:nvPr/>
        </p:nvPicPr>
        <p:blipFill rotWithShape="1">
          <a:blip r:embed="rId3">
            <a:alphaModFix/>
          </a:blip>
          <a:srcRect b="0" l="0" r="0" t="0"/>
          <a:stretch/>
        </p:blipFill>
        <p:spPr>
          <a:xfrm>
            <a:off x="496119" y="1731392"/>
            <a:ext cx="2717229" cy="567035"/>
          </a:xfrm>
          <a:prstGeom prst="rect">
            <a:avLst/>
          </a:prstGeom>
          <a:noFill/>
          <a:ln>
            <a:noFill/>
          </a:ln>
        </p:spPr>
      </p:pic>
      <p:sp>
        <p:nvSpPr>
          <p:cNvPr id="195" name="Google Shape;195;p10"/>
          <p:cNvSpPr/>
          <p:nvPr/>
        </p:nvSpPr>
        <p:spPr>
          <a:xfrm>
            <a:off x="637877" y="2440186"/>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Fase 1</a:t>
            </a:r>
            <a:endParaRPr b="0" i="0" sz="1300" u="none" cap="none" strike="noStrike">
              <a:solidFill>
                <a:schemeClr val="dk1"/>
              </a:solidFill>
              <a:latin typeface="Calibri"/>
              <a:ea typeface="Calibri"/>
              <a:cs typeface="Calibri"/>
              <a:sym typeface="Calibri"/>
            </a:endParaRPr>
          </a:p>
        </p:txBody>
      </p:sp>
      <p:sp>
        <p:nvSpPr>
          <p:cNvPr id="196" name="Google Shape;196;p10"/>
          <p:cNvSpPr/>
          <p:nvPr/>
        </p:nvSpPr>
        <p:spPr>
          <a:xfrm>
            <a:off x="637877" y="2746697"/>
            <a:ext cx="2433712"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Architecture &amp; CDN — Firestore + Bunny.net</a:t>
            </a:r>
            <a:endParaRPr b="0" i="0" sz="1050" u="none" cap="none" strike="noStrike">
              <a:solidFill>
                <a:schemeClr val="dk1"/>
              </a:solidFill>
              <a:latin typeface="Calibri"/>
              <a:ea typeface="Calibri"/>
              <a:cs typeface="Calibri"/>
              <a:sym typeface="Calibri"/>
            </a:endParaRPr>
          </a:p>
        </p:txBody>
      </p:sp>
      <p:pic>
        <p:nvPicPr>
          <p:cNvPr descr="preencoded.png" id="197" name="Google Shape;197;p10"/>
          <p:cNvPicPr preferRelativeResize="0"/>
          <p:nvPr/>
        </p:nvPicPr>
        <p:blipFill rotWithShape="1">
          <a:blip r:embed="rId4">
            <a:alphaModFix/>
          </a:blip>
          <a:srcRect b="0" l="0" r="0" t="0"/>
          <a:stretch/>
        </p:blipFill>
        <p:spPr>
          <a:xfrm>
            <a:off x="3213348" y="1731392"/>
            <a:ext cx="2717229" cy="567035"/>
          </a:xfrm>
          <a:prstGeom prst="rect">
            <a:avLst/>
          </a:prstGeom>
          <a:noFill/>
          <a:ln>
            <a:noFill/>
          </a:ln>
        </p:spPr>
      </p:pic>
      <p:sp>
        <p:nvSpPr>
          <p:cNvPr id="198" name="Google Shape;198;p10"/>
          <p:cNvSpPr/>
          <p:nvPr/>
        </p:nvSpPr>
        <p:spPr>
          <a:xfrm>
            <a:off x="3355107" y="2440186"/>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Fase 2</a:t>
            </a:r>
            <a:endParaRPr b="0" i="0" sz="1300" u="none" cap="none" strike="noStrike">
              <a:solidFill>
                <a:schemeClr val="dk1"/>
              </a:solidFill>
              <a:latin typeface="Calibri"/>
              <a:ea typeface="Calibri"/>
              <a:cs typeface="Calibri"/>
              <a:sym typeface="Calibri"/>
            </a:endParaRPr>
          </a:p>
        </p:txBody>
      </p:sp>
      <p:sp>
        <p:nvSpPr>
          <p:cNvPr id="199" name="Google Shape;199;p10"/>
          <p:cNvSpPr/>
          <p:nvPr/>
        </p:nvSpPr>
        <p:spPr>
          <a:xfrm>
            <a:off x="3355107" y="2746697"/>
            <a:ext cx="2433712"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Catálogo con Trazabilidad de Adquisición</a:t>
            </a:r>
            <a:endParaRPr b="0" i="0" sz="1050" u="none" cap="none" strike="noStrike">
              <a:solidFill>
                <a:schemeClr val="dk1"/>
              </a:solidFill>
              <a:latin typeface="Calibri"/>
              <a:ea typeface="Calibri"/>
              <a:cs typeface="Calibri"/>
              <a:sym typeface="Calibri"/>
            </a:endParaRPr>
          </a:p>
        </p:txBody>
      </p:sp>
      <p:pic>
        <p:nvPicPr>
          <p:cNvPr descr="preencoded.png" id="200" name="Google Shape;200;p10"/>
          <p:cNvPicPr preferRelativeResize="0"/>
          <p:nvPr/>
        </p:nvPicPr>
        <p:blipFill rotWithShape="1">
          <a:blip r:embed="rId5">
            <a:alphaModFix/>
          </a:blip>
          <a:srcRect b="0" l="0" r="0" t="0"/>
          <a:stretch/>
        </p:blipFill>
        <p:spPr>
          <a:xfrm>
            <a:off x="5930578" y="1731392"/>
            <a:ext cx="2717229" cy="567035"/>
          </a:xfrm>
          <a:prstGeom prst="rect">
            <a:avLst/>
          </a:prstGeom>
          <a:noFill/>
          <a:ln>
            <a:noFill/>
          </a:ln>
        </p:spPr>
      </p:pic>
      <p:sp>
        <p:nvSpPr>
          <p:cNvPr id="201" name="Google Shape;201;p10"/>
          <p:cNvSpPr/>
          <p:nvPr/>
        </p:nvSpPr>
        <p:spPr>
          <a:xfrm>
            <a:off x="6072336" y="2440186"/>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Fase 3</a:t>
            </a:r>
            <a:endParaRPr b="0" i="0" sz="1300" u="none" cap="none" strike="noStrike">
              <a:solidFill>
                <a:schemeClr val="dk1"/>
              </a:solidFill>
              <a:latin typeface="Calibri"/>
              <a:ea typeface="Calibri"/>
              <a:cs typeface="Calibri"/>
              <a:sym typeface="Calibri"/>
            </a:endParaRPr>
          </a:p>
        </p:txBody>
      </p:sp>
      <p:sp>
        <p:nvSpPr>
          <p:cNvPr id="202" name="Google Shape;202;p10"/>
          <p:cNvSpPr/>
          <p:nvPr/>
        </p:nvSpPr>
        <p:spPr>
          <a:xfrm>
            <a:off x="6072336" y="2746697"/>
            <a:ext cx="2433712"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Deckbuilder, Validador y Desglose de Origen</a:t>
            </a:r>
            <a:endParaRPr b="0" i="0" sz="1050" u="none" cap="none" strike="noStrike">
              <a:solidFill>
                <a:schemeClr val="dk1"/>
              </a:solidFill>
              <a:latin typeface="Calibri"/>
              <a:ea typeface="Calibri"/>
              <a:cs typeface="Calibri"/>
              <a:sym typeface="Calibri"/>
            </a:endParaRPr>
          </a:p>
        </p:txBody>
      </p:sp>
      <p:pic>
        <p:nvPicPr>
          <p:cNvPr descr="preencoded.png" id="203" name="Google Shape;203;p10"/>
          <p:cNvPicPr preferRelativeResize="0"/>
          <p:nvPr/>
        </p:nvPicPr>
        <p:blipFill rotWithShape="1">
          <a:blip r:embed="rId6">
            <a:alphaModFix/>
          </a:blip>
          <a:srcRect b="0" l="0" r="0" t="0"/>
          <a:stretch/>
        </p:blipFill>
        <p:spPr>
          <a:xfrm>
            <a:off x="496119" y="3342084"/>
            <a:ext cx="2717229" cy="567035"/>
          </a:xfrm>
          <a:prstGeom prst="rect">
            <a:avLst/>
          </a:prstGeom>
          <a:noFill/>
          <a:ln>
            <a:noFill/>
          </a:ln>
        </p:spPr>
      </p:pic>
      <p:sp>
        <p:nvSpPr>
          <p:cNvPr id="204" name="Google Shape;204;p10"/>
          <p:cNvSpPr/>
          <p:nvPr/>
        </p:nvSpPr>
        <p:spPr>
          <a:xfrm>
            <a:off x="637877" y="4050878"/>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Fase 4</a:t>
            </a:r>
            <a:endParaRPr b="0" i="0" sz="1300" u="none" cap="none" strike="noStrike">
              <a:solidFill>
                <a:schemeClr val="dk1"/>
              </a:solidFill>
              <a:latin typeface="Calibri"/>
              <a:ea typeface="Calibri"/>
              <a:cs typeface="Calibri"/>
              <a:sym typeface="Calibri"/>
            </a:endParaRPr>
          </a:p>
        </p:txBody>
      </p:sp>
      <p:sp>
        <p:nvSpPr>
          <p:cNvPr id="205" name="Google Shape;205;p10"/>
          <p:cNvSpPr/>
          <p:nvPr/>
        </p:nvSpPr>
        <p:spPr>
          <a:xfrm>
            <a:off x="637877" y="4357390"/>
            <a:ext cx="2433712"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Prototipado y Metagame Engine</a:t>
            </a:r>
            <a:endParaRPr b="0" i="0" sz="1050" u="none" cap="none" strike="noStrike">
              <a:solidFill>
                <a:schemeClr val="dk1"/>
              </a:solidFill>
              <a:latin typeface="Calibri"/>
              <a:ea typeface="Calibri"/>
              <a:cs typeface="Calibri"/>
              <a:sym typeface="Calibri"/>
            </a:endParaRPr>
          </a:p>
        </p:txBody>
      </p:sp>
      <p:pic>
        <p:nvPicPr>
          <p:cNvPr descr="preencoded.png" id="206" name="Google Shape;206;p10"/>
          <p:cNvPicPr preferRelativeResize="0"/>
          <p:nvPr/>
        </p:nvPicPr>
        <p:blipFill rotWithShape="1">
          <a:blip r:embed="rId7">
            <a:alphaModFix/>
          </a:blip>
          <a:srcRect b="0" l="0" r="0" t="0"/>
          <a:stretch/>
        </p:blipFill>
        <p:spPr>
          <a:xfrm>
            <a:off x="3213348" y="3342084"/>
            <a:ext cx="2717229" cy="567035"/>
          </a:xfrm>
          <a:prstGeom prst="rect">
            <a:avLst/>
          </a:prstGeom>
          <a:noFill/>
          <a:ln>
            <a:noFill/>
          </a:ln>
        </p:spPr>
      </p:pic>
      <p:sp>
        <p:nvSpPr>
          <p:cNvPr id="207" name="Google Shape;207;p10"/>
          <p:cNvSpPr/>
          <p:nvPr/>
        </p:nvSpPr>
        <p:spPr>
          <a:xfrm>
            <a:off x="3355107" y="4050878"/>
            <a:ext cx="2433712"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Fase 5</a:t>
            </a:r>
            <a:endParaRPr b="0" i="0" sz="1300" u="none" cap="none" strike="noStrike">
              <a:solidFill>
                <a:schemeClr val="dk1"/>
              </a:solidFill>
              <a:latin typeface="Calibri"/>
              <a:ea typeface="Calibri"/>
              <a:cs typeface="Calibri"/>
              <a:sym typeface="Calibri"/>
            </a:endParaRPr>
          </a:p>
        </p:txBody>
      </p:sp>
      <p:sp>
        <p:nvSpPr>
          <p:cNvPr id="208" name="Google Shape;208;p10"/>
          <p:cNvSpPr/>
          <p:nvPr/>
        </p:nvSpPr>
        <p:spPr>
          <a:xfrm>
            <a:off x="3355107" y="4357390"/>
            <a:ext cx="2433712" cy="226814"/>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QA, CI/CD y Despliegue en Vercel</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3" name="Shape 213"/>
        <p:cNvGrpSpPr/>
        <p:nvPr/>
      </p:nvGrpSpPr>
      <p:grpSpPr>
        <a:xfrm>
          <a:off x="0" y="0"/>
          <a:ext cx="0" cy="0"/>
          <a:chOff x="0" y="0"/>
          <a:chExt cx="0" cy="0"/>
        </a:xfrm>
      </p:grpSpPr>
      <p:sp>
        <p:nvSpPr>
          <p:cNvPr id="214" name="Google Shape;214;p11"/>
          <p:cNvSpPr/>
          <p:nvPr/>
        </p:nvSpPr>
        <p:spPr>
          <a:xfrm>
            <a:off x="496119" y="409724"/>
            <a:ext cx="791691" cy="182984"/>
          </a:xfrm>
          <a:prstGeom prst="roundRect">
            <a:avLst>
              <a:gd fmla="val 7902"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5" name="Google Shape;215;p11"/>
          <p:cNvSpPr/>
          <p:nvPr/>
        </p:nvSpPr>
        <p:spPr>
          <a:xfrm>
            <a:off x="568375" y="445815"/>
            <a:ext cx="1104379" cy="11080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700"/>
              <a:buFont typeface="Roboto"/>
              <a:buNone/>
            </a:pPr>
            <a:r>
              <a:rPr b="0" i="0" lang="en-US" sz="700" u="none" cap="none" strike="noStrike">
                <a:solidFill>
                  <a:srgbClr val="DCFF50"/>
                </a:solidFill>
                <a:latin typeface="Roboto"/>
                <a:ea typeface="Roboto"/>
                <a:cs typeface="Roboto"/>
                <a:sym typeface="Roboto"/>
              </a:rPr>
              <a:t>CRONOGRAMA</a:t>
            </a:r>
            <a:endParaRPr b="0" i="0" sz="700" u="none" cap="none" strike="noStrike">
              <a:solidFill>
                <a:schemeClr val="dk1"/>
              </a:solidFill>
              <a:latin typeface="Calibri"/>
              <a:ea typeface="Calibri"/>
              <a:cs typeface="Calibri"/>
              <a:sym typeface="Calibri"/>
            </a:endParaRPr>
          </a:p>
        </p:txBody>
      </p:sp>
      <p:sp>
        <p:nvSpPr>
          <p:cNvPr id="216" name="Google Shape;216;p11"/>
          <p:cNvSpPr/>
          <p:nvPr/>
        </p:nvSpPr>
        <p:spPr>
          <a:xfrm>
            <a:off x="496119" y="633636"/>
            <a:ext cx="8151763" cy="376535"/>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250"/>
              <a:buFont typeface="Roboto Mono Medium"/>
              <a:buNone/>
            </a:pPr>
            <a:r>
              <a:rPr b="0" i="0" lang="en-US" sz="2250" u="none" cap="none" strike="noStrike">
                <a:solidFill>
                  <a:srgbClr val="FFFFFF"/>
                </a:solidFill>
                <a:latin typeface="Roboto Mono Medium"/>
                <a:ea typeface="Roboto Mono Medium"/>
                <a:cs typeface="Roboto Mono Medium"/>
                <a:sym typeface="Roboto Mono Medium"/>
              </a:rPr>
              <a:t>Carta Gantt — 18 Semanas de Ejecución</a:t>
            </a:r>
            <a:endParaRPr b="0" i="0" sz="2250" u="none" cap="none" strike="noStrike">
              <a:solidFill>
                <a:schemeClr val="dk1"/>
              </a:solidFill>
              <a:latin typeface="Calibri"/>
              <a:ea typeface="Calibri"/>
              <a:cs typeface="Calibri"/>
              <a:sym typeface="Calibri"/>
            </a:endParaRPr>
          </a:p>
        </p:txBody>
      </p:sp>
      <p:pic>
        <p:nvPicPr>
          <p:cNvPr descr="preencoded.png" id="217" name="Google Shape;217;p11"/>
          <p:cNvPicPr preferRelativeResize="0"/>
          <p:nvPr/>
        </p:nvPicPr>
        <p:blipFill rotWithShape="1">
          <a:blip r:embed="rId3">
            <a:alphaModFix/>
          </a:blip>
          <a:srcRect b="0" l="0" r="0" t="0"/>
          <a:stretch/>
        </p:blipFill>
        <p:spPr>
          <a:xfrm>
            <a:off x="790798" y="1278954"/>
            <a:ext cx="3339554" cy="3339554"/>
          </a:xfrm>
          <a:prstGeom prst="rect">
            <a:avLst/>
          </a:prstGeom>
          <a:noFill/>
          <a:ln>
            <a:noFill/>
          </a:ln>
        </p:spPr>
      </p:pic>
      <p:sp>
        <p:nvSpPr>
          <p:cNvPr id="218" name="Google Shape;218;p11"/>
          <p:cNvSpPr/>
          <p:nvPr/>
        </p:nvSpPr>
        <p:spPr>
          <a:xfrm>
            <a:off x="4723730" y="2309068"/>
            <a:ext cx="3928914" cy="188268"/>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1100"/>
              <a:buFont typeface="Roboto Mono Medium"/>
              <a:buNone/>
            </a:pPr>
            <a:r>
              <a:rPr b="0" i="0" lang="en-US" sz="1100" u="none" cap="none" strike="noStrike">
                <a:solidFill>
                  <a:srgbClr val="FFFFFF"/>
                </a:solidFill>
                <a:latin typeface="Roboto Mono Medium"/>
                <a:ea typeface="Roboto Mono Medium"/>
                <a:cs typeface="Roboto Mono Medium"/>
                <a:sym typeface="Roboto Mono Medium"/>
              </a:rPr>
              <a:t>Distribución del Esfuerzo</a:t>
            </a:r>
            <a:endParaRPr b="0" i="0" sz="1100" u="none" cap="none" strike="noStrike">
              <a:solidFill>
                <a:schemeClr val="dk1"/>
              </a:solidFill>
              <a:latin typeface="Calibri"/>
              <a:ea typeface="Calibri"/>
              <a:cs typeface="Calibri"/>
              <a:sym typeface="Calibri"/>
            </a:endParaRPr>
          </a:p>
        </p:txBody>
      </p:sp>
      <p:sp>
        <p:nvSpPr>
          <p:cNvPr id="219" name="Google Shape;219;p11"/>
          <p:cNvSpPr/>
          <p:nvPr/>
        </p:nvSpPr>
        <p:spPr>
          <a:xfrm>
            <a:off x="4723730" y="2599730"/>
            <a:ext cx="3928914" cy="356592"/>
          </a:xfrm>
          <a:prstGeom prst="rect">
            <a:avLst/>
          </a:prstGeom>
          <a:noFill/>
          <a:ln>
            <a:noFill/>
          </a:ln>
        </p:spPr>
        <p:txBody>
          <a:bodyPr anchorCtr="0" anchor="t" bIns="0" lIns="0" spcFirstLastPara="1" rIns="0" wrap="square" tIns="0">
            <a:noAutofit/>
          </a:bodyPr>
          <a:lstStyle/>
          <a:p>
            <a:pPr indent="0" lvl="0" marL="0" marR="0" rtl="0" algn="l">
              <a:lnSpc>
                <a:spcPct val="123000"/>
              </a:lnSpc>
              <a:spcBef>
                <a:spcPts val="0"/>
              </a:spcBef>
              <a:spcAft>
                <a:spcPts val="0"/>
              </a:spcAft>
              <a:buClr>
                <a:srgbClr val="E5E0DF"/>
              </a:buClr>
              <a:buSzPts val="900"/>
              <a:buFont typeface="Roboto"/>
              <a:buNone/>
            </a:pPr>
            <a:r>
              <a:rPr b="0" i="0" lang="en-US" sz="900" u="none" cap="none" strike="noStrike">
                <a:solidFill>
                  <a:srgbClr val="E5E0DF"/>
                </a:solidFill>
                <a:latin typeface="Roboto"/>
                <a:ea typeface="Roboto"/>
                <a:cs typeface="Roboto"/>
                <a:sym typeface="Roboto"/>
              </a:rPr>
              <a:t>La </a:t>
            </a:r>
            <a:r>
              <a:rPr b="1" i="0" lang="en-US" sz="900" u="none" cap="none" strike="noStrike">
                <a:solidFill>
                  <a:srgbClr val="E5E0DF"/>
                </a:solidFill>
                <a:latin typeface="Roboto"/>
                <a:ea typeface="Roboto"/>
                <a:cs typeface="Roboto"/>
                <a:sym typeface="Roboto"/>
              </a:rPr>
              <a:t>Fase 2</a:t>
            </a:r>
            <a:r>
              <a:rPr b="0" i="0" lang="en-US" sz="900" u="none" cap="none" strike="noStrike">
                <a:solidFill>
                  <a:srgbClr val="E5E0DF"/>
                </a:solidFill>
                <a:latin typeface="Roboto"/>
                <a:ea typeface="Roboto"/>
                <a:cs typeface="Roboto"/>
                <a:sym typeface="Roboto"/>
              </a:rPr>
              <a:t> concentra el mayor volumen de trabajo con </a:t>
            </a:r>
            <a:r>
              <a:rPr b="1" i="0" lang="en-US" sz="900" u="none" cap="none" strike="noStrike">
                <a:solidFill>
                  <a:srgbClr val="E5E0DF"/>
                </a:solidFill>
                <a:latin typeface="Roboto"/>
                <a:ea typeface="Roboto"/>
                <a:cs typeface="Roboto"/>
                <a:sym typeface="Roboto"/>
              </a:rPr>
              <a:t>12 semanas</a:t>
            </a:r>
            <a:r>
              <a:rPr b="0" i="0" lang="en-US" sz="900" u="none" cap="none" strike="noStrike">
                <a:solidFill>
                  <a:srgbClr val="E5E0DF"/>
                </a:solidFill>
                <a:latin typeface="Roboto"/>
                <a:ea typeface="Roboto"/>
                <a:cs typeface="Roboto"/>
                <a:sym typeface="Roboto"/>
              </a:rPr>
              <a:t> dedicadas al desarrollo de las funcionalidades centrales de la plataforma.</a:t>
            </a:r>
            <a:endParaRPr b="0" i="0" sz="900" u="none" cap="none" strike="noStrike">
              <a:solidFill>
                <a:schemeClr val="dk1"/>
              </a:solidFill>
              <a:latin typeface="Calibri"/>
              <a:ea typeface="Calibri"/>
              <a:cs typeface="Calibri"/>
              <a:sym typeface="Calibri"/>
            </a:endParaRPr>
          </a:p>
        </p:txBody>
      </p:sp>
      <p:sp>
        <p:nvSpPr>
          <p:cNvPr id="220" name="Google Shape;220;p11"/>
          <p:cNvSpPr/>
          <p:nvPr/>
        </p:nvSpPr>
        <p:spPr>
          <a:xfrm>
            <a:off x="4723730" y="3048446"/>
            <a:ext cx="3928914" cy="606475"/>
          </a:xfrm>
          <a:prstGeom prst="rect">
            <a:avLst/>
          </a:prstGeom>
          <a:noFill/>
          <a:ln>
            <a:noFill/>
          </a:ln>
        </p:spPr>
        <p:txBody>
          <a:bodyPr anchorCtr="0" anchor="t" bIns="0" lIns="0" spcFirstLastPara="1" rIns="0" wrap="square" tIns="0">
            <a:noAutofit/>
          </a:bodyPr>
          <a:lstStyle/>
          <a:p>
            <a:pPr indent="-182880" lvl="0" marL="182880" marR="0" rtl="0" algn="l">
              <a:lnSpc>
                <a:spcPct val="123000"/>
              </a:lnSpc>
              <a:spcBef>
                <a:spcPts val="0"/>
              </a:spcBef>
              <a:spcAft>
                <a:spcPts val="0"/>
              </a:spcAft>
              <a:buClr>
                <a:srgbClr val="E5E0DF"/>
              </a:buClr>
              <a:buSzPts val="900"/>
              <a:buFont typeface="Roboto"/>
              <a:buChar char="•"/>
            </a:pPr>
            <a:r>
              <a:rPr b="1" i="0" lang="en-US" sz="900" u="none" cap="none" strike="noStrike">
                <a:solidFill>
                  <a:srgbClr val="E5E0DF"/>
                </a:solidFill>
                <a:latin typeface="Roboto"/>
                <a:ea typeface="Roboto"/>
                <a:cs typeface="Roboto"/>
                <a:sym typeface="Roboto"/>
              </a:rPr>
              <a:t>Fase 1 (S1–S4):</a:t>
            </a:r>
            <a:r>
              <a:rPr b="0" i="0" lang="en-US" sz="900" u="none" cap="none" strike="noStrike">
                <a:solidFill>
                  <a:srgbClr val="E5E0DF"/>
                </a:solidFill>
                <a:latin typeface="Roboto"/>
                <a:ea typeface="Roboto"/>
                <a:cs typeface="Roboto"/>
                <a:sym typeface="Roboto"/>
              </a:rPr>
              <a:t> Cimientos técnicos y arquitectura</a:t>
            </a:r>
            <a:endParaRPr b="0" i="0" sz="900" u="none" cap="none" strike="noStrike">
              <a:solidFill>
                <a:schemeClr val="dk1"/>
              </a:solidFill>
              <a:latin typeface="Calibri"/>
              <a:ea typeface="Calibri"/>
              <a:cs typeface="Calibri"/>
              <a:sym typeface="Calibri"/>
            </a:endParaRPr>
          </a:p>
          <a:p>
            <a:pPr indent="-182880" lvl="0" marL="182880" marR="0" rtl="0" algn="l">
              <a:lnSpc>
                <a:spcPct val="123000"/>
              </a:lnSpc>
              <a:spcBef>
                <a:spcPts val="0"/>
              </a:spcBef>
              <a:spcAft>
                <a:spcPts val="0"/>
              </a:spcAft>
              <a:buClr>
                <a:srgbClr val="E5E0DF"/>
              </a:buClr>
              <a:buSzPts val="900"/>
              <a:buFont typeface="Roboto"/>
              <a:buChar char="•"/>
            </a:pPr>
            <a:r>
              <a:rPr b="1" i="0" lang="en-US" sz="900" u="none" cap="none" strike="noStrike">
                <a:solidFill>
                  <a:srgbClr val="E5E0DF"/>
                </a:solidFill>
                <a:latin typeface="Roboto"/>
                <a:ea typeface="Roboto"/>
                <a:cs typeface="Roboto"/>
                <a:sym typeface="Roboto"/>
              </a:rPr>
              <a:t>Fase 2 (S5–S16):</a:t>
            </a:r>
            <a:r>
              <a:rPr b="0" i="0" lang="en-US" sz="900" u="none" cap="none" strike="noStrike">
                <a:solidFill>
                  <a:srgbClr val="E5E0DF"/>
                </a:solidFill>
                <a:latin typeface="Roboto"/>
                <a:ea typeface="Roboto"/>
                <a:cs typeface="Roboto"/>
                <a:sym typeface="Roboto"/>
              </a:rPr>
              <a:t> Desarrollo de módulos principales</a:t>
            </a:r>
            <a:endParaRPr b="0" i="0" sz="900" u="none" cap="none" strike="noStrike">
              <a:solidFill>
                <a:schemeClr val="dk1"/>
              </a:solidFill>
              <a:latin typeface="Calibri"/>
              <a:ea typeface="Calibri"/>
              <a:cs typeface="Calibri"/>
              <a:sym typeface="Calibri"/>
            </a:endParaRPr>
          </a:p>
          <a:p>
            <a:pPr indent="-182880" lvl="0" marL="182880" marR="0" rtl="0" algn="l">
              <a:lnSpc>
                <a:spcPct val="123000"/>
              </a:lnSpc>
              <a:spcBef>
                <a:spcPts val="0"/>
              </a:spcBef>
              <a:spcAft>
                <a:spcPts val="0"/>
              </a:spcAft>
              <a:buClr>
                <a:srgbClr val="E5E0DF"/>
              </a:buClr>
              <a:buSzPts val="900"/>
              <a:buFont typeface="Roboto"/>
              <a:buChar char="•"/>
            </a:pPr>
            <a:r>
              <a:rPr b="1" i="0" lang="en-US" sz="900" u="none" cap="none" strike="noStrike">
                <a:solidFill>
                  <a:srgbClr val="E5E0DF"/>
                </a:solidFill>
                <a:latin typeface="Roboto"/>
                <a:ea typeface="Roboto"/>
                <a:cs typeface="Roboto"/>
                <a:sym typeface="Roboto"/>
              </a:rPr>
              <a:t>Fase 3 (S17–S18):</a:t>
            </a:r>
            <a:r>
              <a:rPr b="0" i="0" lang="en-US" sz="900" u="none" cap="none" strike="noStrike">
                <a:solidFill>
                  <a:srgbClr val="E5E0DF"/>
                </a:solidFill>
                <a:latin typeface="Roboto"/>
                <a:ea typeface="Roboto"/>
                <a:cs typeface="Roboto"/>
                <a:sym typeface="Roboto"/>
              </a:rPr>
              <a:t> Control de calidad y lanzamiento</a:t>
            </a:r>
            <a:endParaRPr b="0" i="0" sz="9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 name="Shape 225"/>
        <p:cNvGrpSpPr/>
        <p:nvPr/>
      </p:nvGrpSpPr>
      <p:grpSpPr>
        <a:xfrm>
          <a:off x="0" y="0"/>
          <a:ext cx="0" cy="0"/>
          <a:chOff x="0" y="0"/>
          <a:chExt cx="0" cy="0"/>
        </a:xfrm>
      </p:grpSpPr>
      <p:sp>
        <p:nvSpPr>
          <p:cNvPr id="226" name="Google Shape;226;p12"/>
          <p:cNvSpPr/>
          <p:nvPr/>
        </p:nvSpPr>
        <p:spPr>
          <a:xfrm>
            <a:off x="496119" y="419844"/>
            <a:ext cx="700534" cy="215354"/>
          </a:xfrm>
          <a:prstGeom prst="roundRect">
            <a:avLst>
              <a:gd fmla="val 7900" name="adj"/>
            </a:avLst>
          </a:prstGeom>
          <a:noFill/>
          <a:ln cap="flat" cmpd="sng" w="9525">
            <a:solidFill>
              <a:srgbClr val="DCFF5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7" name="Google Shape;227;p12"/>
          <p:cNvSpPr/>
          <p:nvPr/>
        </p:nvSpPr>
        <p:spPr>
          <a:xfrm>
            <a:off x="581174" y="462335"/>
            <a:ext cx="987623" cy="130373"/>
          </a:xfrm>
          <a:prstGeom prst="rect">
            <a:avLst/>
          </a:prstGeom>
          <a:noFill/>
          <a:ln>
            <a:noFill/>
          </a:ln>
        </p:spPr>
        <p:txBody>
          <a:bodyPr anchorCtr="0" anchor="t" bIns="0" lIns="0" spcFirstLastPara="1" rIns="0" wrap="square" tIns="0">
            <a:noAutofit/>
          </a:bodyPr>
          <a:lstStyle/>
          <a:p>
            <a:pPr indent="0" lvl="0" marL="0" marR="0" rtl="0" algn="l">
              <a:lnSpc>
                <a:spcPct val="96000"/>
              </a:lnSpc>
              <a:spcBef>
                <a:spcPts val="0"/>
              </a:spcBef>
              <a:spcAft>
                <a:spcPts val="0"/>
              </a:spcAft>
              <a:buClr>
                <a:srgbClr val="DCFF50"/>
              </a:buClr>
              <a:buSzPts val="850"/>
              <a:buFont typeface="Roboto"/>
              <a:buNone/>
            </a:pPr>
            <a:r>
              <a:rPr b="0" i="0" lang="en-US" sz="850" u="none" cap="none" strike="noStrike">
                <a:solidFill>
                  <a:srgbClr val="DCFF50"/>
                </a:solidFill>
                <a:latin typeface="Roboto"/>
                <a:ea typeface="Roboto"/>
                <a:cs typeface="Roboto"/>
                <a:sym typeface="Roboto"/>
              </a:rPr>
              <a:t>ROADMAP</a:t>
            </a:r>
            <a:endParaRPr b="0" i="0" sz="850" u="none" cap="none" strike="noStrike">
              <a:solidFill>
                <a:schemeClr val="dk1"/>
              </a:solidFill>
              <a:latin typeface="Calibri"/>
              <a:ea typeface="Calibri"/>
              <a:cs typeface="Calibri"/>
              <a:sym typeface="Calibri"/>
            </a:endParaRPr>
          </a:p>
        </p:txBody>
      </p:sp>
      <p:sp>
        <p:nvSpPr>
          <p:cNvPr id="228" name="Google Shape;228;p12"/>
          <p:cNvSpPr/>
          <p:nvPr/>
        </p:nvSpPr>
        <p:spPr>
          <a:xfrm>
            <a:off x="496119" y="691902"/>
            <a:ext cx="8151763" cy="442987"/>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FFFFFF"/>
              </a:buClr>
              <a:buSzPts val="2650"/>
              <a:buFont typeface="Roboto Mono Medium"/>
              <a:buNone/>
            </a:pPr>
            <a:r>
              <a:rPr b="0" i="0" lang="en-US" sz="2650" u="none" cap="none" strike="noStrike">
                <a:solidFill>
                  <a:srgbClr val="FFFFFF"/>
                </a:solidFill>
                <a:latin typeface="Roboto Mono Medium"/>
                <a:ea typeface="Roboto Mono Medium"/>
                <a:cs typeface="Roboto Mono Medium"/>
                <a:sym typeface="Roboto Mono Medium"/>
              </a:rPr>
              <a:t>Mejoras Futura</a:t>
            </a:r>
            <a:endParaRPr b="0" i="0" sz="2650" u="none" cap="none" strike="noStrike">
              <a:solidFill>
                <a:schemeClr val="dk1"/>
              </a:solidFill>
              <a:latin typeface="Calibri"/>
              <a:ea typeface="Calibri"/>
              <a:cs typeface="Calibri"/>
              <a:sym typeface="Calibri"/>
            </a:endParaRPr>
          </a:p>
        </p:txBody>
      </p:sp>
      <p:sp>
        <p:nvSpPr>
          <p:cNvPr id="229" name="Google Shape;229;p12"/>
          <p:cNvSpPr/>
          <p:nvPr/>
        </p:nvSpPr>
        <p:spPr>
          <a:xfrm>
            <a:off x="496119" y="1347490"/>
            <a:ext cx="8151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Para seguir evolucionando y enriqueciendo la experiencia de la comunidad de jugadores, se han identificado las siguientes mejoras a implementar en futuras iteraciones de la plataforma:</a:t>
            </a:r>
            <a:endParaRPr b="0" i="0" sz="1050" u="none" cap="none" strike="noStrike">
              <a:solidFill>
                <a:schemeClr val="dk1"/>
              </a:solidFill>
              <a:latin typeface="Calibri"/>
              <a:ea typeface="Calibri"/>
              <a:cs typeface="Calibri"/>
              <a:sym typeface="Calibri"/>
            </a:endParaRPr>
          </a:p>
        </p:txBody>
      </p:sp>
      <p:sp>
        <p:nvSpPr>
          <p:cNvPr id="230" name="Google Shape;230;p12"/>
          <p:cNvSpPr/>
          <p:nvPr/>
        </p:nvSpPr>
        <p:spPr>
          <a:xfrm>
            <a:off x="496119" y="1960587"/>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01</a:t>
            </a:r>
            <a:endParaRPr b="0" i="0" sz="1050" u="none" cap="none" strike="noStrike">
              <a:solidFill>
                <a:schemeClr val="dk1"/>
              </a:solidFill>
              <a:latin typeface="Calibri"/>
              <a:ea typeface="Calibri"/>
              <a:cs typeface="Calibri"/>
              <a:sym typeface="Calibri"/>
            </a:endParaRPr>
          </a:p>
        </p:txBody>
      </p:sp>
      <p:sp>
        <p:nvSpPr>
          <p:cNvPr id="231" name="Google Shape;231;p12"/>
          <p:cNvSpPr/>
          <p:nvPr/>
        </p:nvSpPr>
        <p:spPr>
          <a:xfrm>
            <a:off x="496119" y="2182490"/>
            <a:ext cx="4004965"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2" name="Google Shape;232;p12"/>
          <p:cNvSpPr/>
          <p:nvPr/>
        </p:nvSpPr>
        <p:spPr>
          <a:xfrm>
            <a:off x="496119" y="2291432"/>
            <a:ext cx="4004965"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Enlaces de Adquisición Directa</a:t>
            </a:r>
            <a:endParaRPr b="0" i="0" sz="1300" u="none" cap="none" strike="noStrike">
              <a:solidFill>
                <a:schemeClr val="dk1"/>
              </a:solidFill>
              <a:latin typeface="Calibri"/>
              <a:ea typeface="Calibri"/>
              <a:cs typeface="Calibri"/>
              <a:sym typeface="Calibri"/>
            </a:endParaRPr>
          </a:p>
        </p:txBody>
      </p:sp>
      <p:sp>
        <p:nvSpPr>
          <p:cNvPr id="233" name="Google Shape;233;p12"/>
          <p:cNvSpPr/>
          <p:nvPr/>
        </p:nvSpPr>
        <p:spPr>
          <a:xfrm>
            <a:off x="496119" y="2597944"/>
            <a:ext cx="4004965"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Integración con un directorio de tiendas especializadas y locales para facilitar la compra directa de cartas, sobres y productos sellados, garantizando la trazabilidad y procedencia.</a:t>
            </a:r>
            <a:endParaRPr b="0" i="0" sz="1050" u="none" cap="none" strike="noStrike">
              <a:solidFill>
                <a:schemeClr val="dk1"/>
              </a:solidFill>
              <a:latin typeface="Calibri"/>
              <a:ea typeface="Calibri"/>
              <a:cs typeface="Calibri"/>
              <a:sym typeface="Calibri"/>
            </a:endParaRPr>
          </a:p>
        </p:txBody>
      </p:sp>
      <p:sp>
        <p:nvSpPr>
          <p:cNvPr id="234" name="Google Shape;234;p12"/>
          <p:cNvSpPr/>
          <p:nvPr/>
        </p:nvSpPr>
        <p:spPr>
          <a:xfrm>
            <a:off x="4642842" y="1960587"/>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02</a:t>
            </a:r>
            <a:endParaRPr b="0" i="0" sz="1050" u="none" cap="none" strike="noStrike">
              <a:solidFill>
                <a:schemeClr val="dk1"/>
              </a:solidFill>
              <a:latin typeface="Calibri"/>
              <a:ea typeface="Calibri"/>
              <a:cs typeface="Calibri"/>
              <a:sym typeface="Calibri"/>
            </a:endParaRPr>
          </a:p>
        </p:txBody>
      </p:sp>
      <p:sp>
        <p:nvSpPr>
          <p:cNvPr id="235" name="Google Shape;235;p12"/>
          <p:cNvSpPr/>
          <p:nvPr/>
        </p:nvSpPr>
        <p:spPr>
          <a:xfrm>
            <a:off x="4642842" y="2182490"/>
            <a:ext cx="4005039"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6" name="Google Shape;236;p12"/>
          <p:cNvSpPr/>
          <p:nvPr/>
        </p:nvSpPr>
        <p:spPr>
          <a:xfrm>
            <a:off x="4642842" y="2291432"/>
            <a:ext cx="4005039"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Calculadora de Presupuesto Estimado</a:t>
            </a:r>
            <a:endParaRPr b="0" i="0" sz="1300" u="none" cap="none" strike="noStrike">
              <a:solidFill>
                <a:schemeClr val="dk1"/>
              </a:solidFill>
              <a:latin typeface="Calibri"/>
              <a:ea typeface="Calibri"/>
              <a:cs typeface="Calibri"/>
              <a:sym typeface="Calibri"/>
            </a:endParaRPr>
          </a:p>
        </p:txBody>
      </p:sp>
      <p:sp>
        <p:nvSpPr>
          <p:cNvPr id="237" name="Google Shape;237;p12"/>
          <p:cNvSpPr/>
          <p:nvPr/>
        </p:nvSpPr>
        <p:spPr>
          <a:xfrm>
            <a:off x="4642842" y="2597944"/>
            <a:ext cx="4005039" cy="680442"/>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Una herramienta interactiva que permitirá a los jugadores estimar el costo de construir un mazo, considerando precios de mercado y disponibilidad, optimizando así su inversión.</a:t>
            </a:r>
            <a:endParaRPr b="0" i="0" sz="1050" u="none" cap="none" strike="noStrike">
              <a:solidFill>
                <a:schemeClr val="dk1"/>
              </a:solidFill>
              <a:latin typeface="Calibri"/>
              <a:ea typeface="Calibri"/>
              <a:cs typeface="Calibri"/>
              <a:sym typeface="Calibri"/>
            </a:endParaRPr>
          </a:p>
        </p:txBody>
      </p:sp>
      <p:sp>
        <p:nvSpPr>
          <p:cNvPr id="238" name="Google Shape;238;p12"/>
          <p:cNvSpPr/>
          <p:nvPr/>
        </p:nvSpPr>
        <p:spPr>
          <a:xfrm>
            <a:off x="496119" y="3526408"/>
            <a:ext cx="283518" cy="1771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E5E0DF"/>
              </a:buClr>
              <a:buSzPts val="1050"/>
              <a:buFont typeface="Roboto Mono Light"/>
              <a:buNone/>
            </a:pPr>
            <a:r>
              <a:rPr b="0" i="0" lang="en-US" sz="1050" u="none" cap="none" strike="noStrike">
                <a:solidFill>
                  <a:srgbClr val="E5E0DF"/>
                </a:solidFill>
                <a:latin typeface="Roboto Mono Light"/>
                <a:ea typeface="Roboto Mono Light"/>
                <a:cs typeface="Roboto Mono Light"/>
                <a:sym typeface="Roboto Mono Light"/>
              </a:rPr>
              <a:t>03</a:t>
            </a:r>
            <a:endParaRPr b="0" i="0" sz="1050" u="none" cap="none" strike="noStrike">
              <a:solidFill>
                <a:schemeClr val="dk1"/>
              </a:solidFill>
              <a:latin typeface="Calibri"/>
              <a:ea typeface="Calibri"/>
              <a:cs typeface="Calibri"/>
              <a:sym typeface="Calibri"/>
            </a:endParaRPr>
          </a:p>
        </p:txBody>
      </p:sp>
      <p:sp>
        <p:nvSpPr>
          <p:cNvPr id="239" name="Google Shape;239;p12"/>
          <p:cNvSpPr/>
          <p:nvPr/>
        </p:nvSpPr>
        <p:spPr>
          <a:xfrm>
            <a:off x="496119" y="3748311"/>
            <a:ext cx="8151763" cy="19050"/>
          </a:xfrm>
          <a:prstGeom prst="rect">
            <a:avLst/>
          </a:prstGeom>
          <a:solidFill>
            <a:srgbClr val="DCFF5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0" name="Google Shape;240;p12"/>
          <p:cNvSpPr/>
          <p:nvPr/>
        </p:nvSpPr>
        <p:spPr>
          <a:xfrm>
            <a:off x="496119" y="3857253"/>
            <a:ext cx="8151763" cy="221456"/>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1300"/>
              <a:buFont typeface="Roboto Mono Medium"/>
              <a:buNone/>
            </a:pPr>
            <a:r>
              <a:rPr b="0" i="0" lang="en-US" sz="1300" u="none" cap="none" strike="noStrike">
                <a:solidFill>
                  <a:srgbClr val="E5E0DF"/>
                </a:solidFill>
                <a:latin typeface="Roboto Mono Medium"/>
                <a:ea typeface="Roboto Mono Medium"/>
                <a:cs typeface="Roboto Mono Medium"/>
                <a:sym typeface="Roboto Mono Medium"/>
              </a:rPr>
              <a:t>Carpeta Digital Personal</a:t>
            </a:r>
            <a:endParaRPr b="0" i="0" sz="1300" u="none" cap="none" strike="noStrike">
              <a:solidFill>
                <a:schemeClr val="dk1"/>
              </a:solidFill>
              <a:latin typeface="Calibri"/>
              <a:ea typeface="Calibri"/>
              <a:cs typeface="Calibri"/>
              <a:sym typeface="Calibri"/>
            </a:endParaRPr>
          </a:p>
        </p:txBody>
      </p:sp>
      <p:sp>
        <p:nvSpPr>
          <p:cNvPr id="241" name="Google Shape;241;p12"/>
          <p:cNvSpPr/>
          <p:nvPr/>
        </p:nvSpPr>
        <p:spPr>
          <a:xfrm>
            <a:off x="496119" y="4163764"/>
            <a:ext cx="8151763" cy="453628"/>
          </a:xfrm>
          <a:prstGeom prst="rect">
            <a:avLst/>
          </a:prstGeom>
          <a:noFill/>
          <a:ln>
            <a:noFill/>
          </a:ln>
        </p:spPr>
        <p:txBody>
          <a:bodyPr anchorCtr="0" anchor="t" bIns="0" lIns="0" spcFirstLastPara="1" rIns="0" wrap="square" tIns="0">
            <a:noAutofit/>
          </a:bodyPr>
          <a:lstStyle/>
          <a:p>
            <a:pPr indent="0" lvl="0" marL="0" marR="0" rtl="0" algn="l">
              <a:lnSpc>
                <a:spcPct val="133000"/>
              </a:lnSpc>
              <a:spcBef>
                <a:spcPts val="0"/>
              </a:spcBef>
              <a:spcAft>
                <a:spcPts val="0"/>
              </a:spcAft>
              <a:buClr>
                <a:srgbClr val="E5E0DF"/>
              </a:buClr>
              <a:buSzPts val="1050"/>
              <a:buFont typeface="Roboto"/>
              <a:buNone/>
            </a:pPr>
            <a:r>
              <a:rPr b="0" i="0" lang="en-US" sz="1050" u="none" cap="none" strike="noStrike">
                <a:solidFill>
                  <a:srgbClr val="E5E0DF"/>
                </a:solidFill>
                <a:latin typeface="Roboto"/>
                <a:ea typeface="Roboto"/>
                <a:cs typeface="Roboto"/>
                <a:sym typeface="Roboto"/>
              </a:rPr>
              <a:t>Módulo avanzado para que cada usuario pueda gestionar su inventario personal de cartas, contrastarlo con los mazos que desea construir y visualizar posibles sinergias o carencias.</a:t>
            </a:r>
            <a:endParaRPr b="0" i="0" sz="10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13"/>
          <p:cNvSpPr/>
          <p:nvPr/>
        </p:nvSpPr>
        <p:spPr>
          <a:xfrm>
            <a:off x="496119" y="562049"/>
            <a:ext cx="8151763" cy="916930"/>
          </a:xfrm>
          <a:prstGeom prst="rect">
            <a:avLst/>
          </a:prstGeom>
          <a:noFill/>
          <a:ln>
            <a:noFill/>
          </a:ln>
        </p:spPr>
        <p:txBody>
          <a:bodyPr anchorCtr="0" anchor="t" bIns="0" lIns="0" spcFirstLastPara="1" rIns="0" wrap="square" tIns="0">
            <a:noAutofit/>
          </a:bodyPr>
          <a:lstStyle/>
          <a:p>
            <a:pPr indent="0" lvl="0" marL="0" marR="0" rtl="0" algn="ctr">
              <a:lnSpc>
                <a:spcPct val="104000"/>
              </a:lnSpc>
              <a:spcBef>
                <a:spcPts val="0"/>
              </a:spcBef>
              <a:spcAft>
                <a:spcPts val="0"/>
              </a:spcAft>
              <a:buClr>
                <a:srgbClr val="FFFFFF"/>
              </a:buClr>
              <a:buSzPts val="2700"/>
              <a:buFont typeface="Roboto Mono Medium"/>
              <a:buNone/>
            </a:pPr>
            <a:r>
              <a:rPr b="0" i="0" lang="en-US" sz="2700" u="none" cap="none" strike="noStrike">
                <a:solidFill>
                  <a:srgbClr val="FFFFFF"/>
                </a:solidFill>
                <a:latin typeface="Roboto Mono Medium"/>
                <a:ea typeface="Roboto Mono Medium"/>
                <a:cs typeface="Roboto Mono Medium"/>
                <a:sym typeface="Roboto Mono Medium"/>
              </a:rPr>
              <a:t>Conclusión: Potenciando la Experiencia TCG</a:t>
            </a:r>
            <a:endParaRPr b="0" i="0" sz="2700" u="none" cap="none" strike="noStrike">
              <a:solidFill>
                <a:schemeClr val="dk1"/>
              </a:solidFill>
              <a:latin typeface="Calibri"/>
              <a:ea typeface="Calibri"/>
              <a:cs typeface="Calibri"/>
              <a:sym typeface="Calibri"/>
            </a:endParaRPr>
          </a:p>
        </p:txBody>
      </p:sp>
      <p:sp>
        <p:nvSpPr>
          <p:cNvPr id="248" name="Google Shape;248;p13"/>
          <p:cNvSpPr/>
          <p:nvPr/>
        </p:nvSpPr>
        <p:spPr>
          <a:xfrm>
            <a:off x="496119" y="1638449"/>
            <a:ext cx="8151763" cy="446484"/>
          </a:xfrm>
          <a:prstGeom prst="rect">
            <a:avLst/>
          </a:prstGeom>
          <a:noFill/>
          <a:ln>
            <a:noFill/>
          </a:ln>
        </p:spPr>
        <p:txBody>
          <a:bodyPr anchorCtr="0" anchor="t" bIns="0" lIns="0" spcFirstLastPara="1" rIns="0" wrap="square" tIns="0">
            <a:noAutofit/>
          </a:bodyPr>
          <a:lstStyle/>
          <a:p>
            <a:pPr indent="0" lvl="0" marL="0" marR="0" rtl="0" algn="ctr">
              <a:lnSpc>
                <a:spcPct val="117000"/>
              </a:lnSpc>
              <a:spcBef>
                <a:spcPts val="0"/>
              </a:spcBef>
              <a:spcAft>
                <a:spcPts val="0"/>
              </a:spcAft>
              <a:buClr>
                <a:srgbClr val="E5E0DF"/>
              </a:buClr>
              <a:buSzPts val="800"/>
              <a:buFont typeface="Roboto"/>
              <a:buNone/>
            </a:pPr>
            <a:r>
              <a:rPr b="0" i="0" lang="en-US" sz="800" u="none" cap="none" strike="noStrike">
                <a:solidFill>
                  <a:srgbClr val="E5E0DF"/>
                </a:solidFill>
                <a:latin typeface="Roboto"/>
                <a:ea typeface="Roboto"/>
                <a:cs typeface="Roboto"/>
                <a:sym typeface="Roboto"/>
              </a:rPr>
              <a:t>Mazos y Leyendas emerge como una plataforma esencial para la comunidad de jugadores de TCG, abordando las problemáticas clave identificadas en el acceso a información, la eficiencia en la inversión y la inteligencia de metagame. Hemos diseñado una solución robusta y escalable que empodera a cada tipo de jugador, desde el novato hasta el competitivo.</a:t>
            </a:r>
            <a:endParaRPr b="0" i="0" sz="800" u="none" cap="none" strike="noStrike">
              <a:solidFill>
                <a:schemeClr val="dk1"/>
              </a:solidFill>
              <a:latin typeface="Calibri"/>
              <a:ea typeface="Calibri"/>
              <a:cs typeface="Calibri"/>
              <a:sym typeface="Calibri"/>
            </a:endParaRPr>
          </a:p>
        </p:txBody>
      </p:sp>
      <p:sp>
        <p:nvSpPr>
          <p:cNvPr id="249" name="Google Shape;249;p13"/>
          <p:cNvSpPr/>
          <p:nvPr/>
        </p:nvSpPr>
        <p:spPr>
          <a:xfrm>
            <a:off x="496119" y="2174602"/>
            <a:ext cx="4035996" cy="318939"/>
          </a:xfrm>
          <a:prstGeom prst="roundRect">
            <a:avLst>
              <a:gd fmla="val 5000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0" name="Google Shape;250;p13"/>
          <p:cNvPicPr preferRelativeResize="0"/>
          <p:nvPr/>
        </p:nvPicPr>
        <p:blipFill rotWithShape="1">
          <a:blip r:embed="rId3">
            <a:alphaModFix/>
          </a:blip>
          <a:srcRect b="0" l="0" r="0" t="0"/>
          <a:stretch/>
        </p:blipFill>
        <p:spPr>
          <a:xfrm>
            <a:off x="2434382" y="2254300"/>
            <a:ext cx="159469" cy="159469"/>
          </a:xfrm>
          <a:prstGeom prst="rect">
            <a:avLst/>
          </a:prstGeom>
          <a:noFill/>
          <a:ln>
            <a:noFill/>
          </a:ln>
        </p:spPr>
      </p:pic>
      <p:sp>
        <p:nvSpPr>
          <p:cNvPr id="251" name="Google Shape;251;p13"/>
          <p:cNvSpPr/>
          <p:nvPr/>
        </p:nvSpPr>
        <p:spPr>
          <a:xfrm>
            <a:off x="602382" y="2573238"/>
            <a:ext cx="3823469" cy="16609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950"/>
              <a:buFont typeface="Roboto Mono Medium"/>
              <a:buNone/>
            </a:pPr>
            <a:r>
              <a:rPr b="0" i="0" lang="en-US" sz="950" u="none" cap="none" strike="noStrike">
                <a:solidFill>
                  <a:srgbClr val="E5E0DF"/>
                </a:solidFill>
                <a:latin typeface="Roboto Mono Medium"/>
                <a:ea typeface="Roboto Mono Medium"/>
                <a:cs typeface="Roboto Mono Medium"/>
                <a:sym typeface="Roboto Mono Medium"/>
              </a:rPr>
              <a:t>Acceso Unificado</a:t>
            </a:r>
            <a:endParaRPr b="0" i="0" sz="950" u="none" cap="none" strike="noStrike">
              <a:solidFill>
                <a:schemeClr val="dk1"/>
              </a:solidFill>
              <a:latin typeface="Calibri"/>
              <a:ea typeface="Calibri"/>
              <a:cs typeface="Calibri"/>
              <a:sym typeface="Calibri"/>
            </a:endParaRPr>
          </a:p>
        </p:txBody>
      </p:sp>
      <p:sp>
        <p:nvSpPr>
          <p:cNvPr id="252" name="Google Shape;252;p13"/>
          <p:cNvSpPr/>
          <p:nvPr/>
        </p:nvSpPr>
        <p:spPr>
          <a:xfrm>
            <a:off x="602382" y="2787104"/>
            <a:ext cx="3823469" cy="14882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E5E0DF"/>
              </a:buClr>
              <a:buSzPts val="800"/>
              <a:buFont typeface="Roboto"/>
              <a:buNone/>
            </a:pPr>
            <a:r>
              <a:rPr b="0" i="0" lang="en-US" sz="800" u="none" cap="none" strike="noStrike">
                <a:solidFill>
                  <a:srgbClr val="E5E0DF"/>
                </a:solidFill>
                <a:latin typeface="Roboto"/>
                <a:ea typeface="Roboto"/>
                <a:cs typeface="Roboto"/>
                <a:sym typeface="Roboto"/>
              </a:rPr>
              <a:t>Democratizamos el acceso a un vasto catálogo de cartas con trazabilidad.</a:t>
            </a:r>
            <a:endParaRPr b="0" i="0" sz="800" u="none" cap="none" strike="noStrike">
              <a:solidFill>
                <a:schemeClr val="dk1"/>
              </a:solidFill>
              <a:latin typeface="Calibri"/>
              <a:ea typeface="Calibri"/>
              <a:cs typeface="Calibri"/>
              <a:sym typeface="Calibri"/>
            </a:endParaRPr>
          </a:p>
        </p:txBody>
      </p:sp>
      <p:sp>
        <p:nvSpPr>
          <p:cNvPr id="253" name="Google Shape;253;p13"/>
          <p:cNvSpPr/>
          <p:nvPr/>
        </p:nvSpPr>
        <p:spPr>
          <a:xfrm>
            <a:off x="4611812" y="2174602"/>
            <a:ext cx="4036070" cy="318939"/>
          </a:xfrm>
          <a:prstGeom prst="roundRect">
            <a:avLst>
              <a:gd fmla="val 5000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4" name="Google Shape;254;p13"/>
          <p:cNvPicPr preferRelativeResize="0"/>
          <p:nvPr/>
        </p:nvPicPr>
        <p:blipFill rotWithShape="1">
          <a:blip r:embed="rId4">
            <a:alphaModFix/>
          </a:blip>
          <a:srcRect b="0" l="0" r="0" t="0"/>
          <a:stretch/>
        </p:blipFill>
        <p:spPr>
          <a:xfrm>
            <a:off x="6550075" y="2254300"/>
            <a:ext cx="159469" cy="159469"/>
          </a:xfrm>
          <a:prstGeom prst="rect">
            <a:avLst/>
          </a:prstGeom>
          <a:noFill/>
          <a:ln>
            <a:noFill/>
          </a:ln>
        </p:spPr>
      </p:pic>
      <p:sp>
        <p:nvSpPr>
          <p:cNvPr id="255" name="Google Shape;255;p13"/>
          <p:cNvSpPr/>
          <p:nvPr/>
        </p:nvSpPr>
        <p:spPr>
          <a:xfrm>
            <a:off x="4718075" y="2573238"/>
            <a:ext cx="3823543" cy="16609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950"/>
              <a:buFont typeface="Roboto Mono Medium"/>
              <a:buNone/>
            </a:pPr>
            <a:r>
              <a:rPr b="0" i="0" lang="en-US" sz="950" u="none" cap="none" strike="noStrike">
                <a:solidFill>
                  <a:srgbClr val="E5E0DF"/>
                </a:solidFill>
                <a:latin typeface="Roboto Mono Medium"/>
                <a:ea typeface="Roboto Mono Medium"/>
                <a:cs typeface="Roboto Mono Medium"/>
                <a:sym typeface="Roboto Mono Medium"/>
              </a:rPr>
              <a:t>Herramientas Inteligentes</a:t>
            </a:r>
            <a:endParaRPr b="0" i="0" sz="950" u="none" cap="none" strike="noStrike">
              <a:solidFill>
                <a:schemeClr val="dk1"/>
              </a:solidFill>
              <a:latin typeface="Calibri"/>
              <a:ea typeface="Calibri"/>
              <a:cs typeface="Calibri"/>
              <a:sym typeface="Calibri"/>
            </a:endParaRPr>
          </a:p>
        </p:txBody>
      </p:sp>
      <p:sp>
        <p:nvSpPr>
          <p:cNvPr id="256" name="Google Shape;256;p13"/>
          <p:cNvSpPr/>
          <p:nvPr/>
        </p:nvSpPr>
        <p:spPr>
          <a:xfrm>
            <a:off x="4718075" y="2787104"/>
            <a:ext cx="3823543" cy="14882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E5E0DF"/>
              </a:buClr>
              <a:buSzPts val="800"/>
              <a:buFont typeface="Roboto"/>
              <a:buNone/>
            </a:pPr>
            <a:r>
              <a:rPr b="0" i="0" lang="en-US" sz="800" u="none" cap="none" strike="noStrike">
                <a:solidFill>
                  <a:srgbClr val="E5E0DF"/>
                </a:solidFill>
                <a:latin typeface="Roboto"/>
                <a:ea typeface="Roboto"/>
                <a:cs typeface="Roboto"/>
                <a:sym typeface="Roboto"/>
              </a:rPr>
              <a:t>Facilitamos la creación y optimización de mazos con validación y simulación.</a:t>
            </a:r>
            <a:endParaRPr b="0" i="0" sz="800" u="none" cap="none" strike="noStrike">
              <a:solidFill>
                <a:schemeClr val="dk1"/>
              </a:solidFill>
              <a:latin typeface="Calibri"/>
              <a:ea typeface="Calibri"/>
              <a:cs typeface="Calibri"/>
              <a:sym typeface="Calibri"/>
            </a:endParaRPr>
          </a:p>
        </p:txBody>
      </p:sp>
      <p:sp>
        <p:nvSpPr>
          <p:cNvPr id="257" name="Google Shape;257;p13"/>
          <p:cNvSpPr/>
          <p:nvPr/>
        </p:nvSpPr>
        <p:spPr>
          <a:xfrm>
            <a:off x="496119" y="3121893"/>
            <a:ext cx="4035996" cy="318939"/>
          </a:xfrm>
          <a:prstGeom prst="roundRect">
            <a:avLst>
              <a:gd fmla="val 5000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58" name="Google Shape;258;p13"/>
          <p:cNvPicPr preferRelativeResize="0"/>
          <p:nvPr/>
        </p:nvPicPr>
        <p:blipFill rotWithShape="1">
          <a:blip r:embed="rId5">
            <a:alphaModFix/>
          </a:blip>
          <a:srcRect b="0" l="0" r="0" t="0"/>
          <a:stretch/>
        </p:blipFill>
        <p:spPr>
          <a:xfrm>
            <a:off x="2434382" y="3201591"/>
            <a:ext cx="159469" cy="159469"/>
          </a:xfrm>
          <a:prstGeom prst="rect">
            <a:avLst/>
          </a:prstGeom>
          <a:noFill/>
          <a:ln>
            <a:noFill/>
          </a:ln>
        </p:spPr>
      </p:pic>
      <p:sp>
        <p:nvSpPr>
          <p:cNvPr id="259" name="Google Shape;259;p13"/>
          <p:cNvSpPr/>
          <p:nvPr/>
        </p:nvSpPr>
        <p:spPr>
          <a:xfrm>
            <a:off x="602382" y="3520529"/>
            <a:ext cx="3823469" cy="16609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950"/>
              <a:buFont typeface="Roboto Mono Medium"/>
              <a:buNone/>
            </a:pPr>
            <a:r>
              <a:rPr b="0" i="0" lang="en-US" sz="950" u="none" cap="none" strike="noStrike">
                <a:solidFill>
                  <a:srgbClr val="E5E0DF"/>
                </a:solidFill>
                <a:latin typeface="Roboto Mono Medium"/>
                <a:ea typeface="Roboto Mono Medium"/>
                <a:cs typeface="Roboto Mono Medium"/>
                <a:sym typeface="Roboto Mono Medium"/>
              </a:rPr>
              <a:t>Análisis Competitivo</a:t>
            </a:r>
            <a:endParaRPr b="0" i="0" sz="950" u="none" cap="none" strike="noStrike">
              <a:solidFill>
                <a:schemeClr val="dk1"/>
              </a:solidFill>
              <a:latin typeface="Calibri"/>
              <a:ea typeface="Calibri"/>
              <a:cs typeface="Calibri"/>
              <a:sym typeface="Calibri"/>
            </a:endParaRPr>
          </a:p>
        </p:txBody>
      </p:sp>
      <p:sp>
        <p:nvSpPr>
          <p:cNvPr id="260" name="Google Shape;260;p13"/>
          <p:cNvSpPr/>
          <p:nvPr/>
        </p:nvSpPr>
        <p:spPr>
          <a:xfrm>
            <a:off x="602382" y="3734395"/>
            <a:ext cx="3823469" cy="14882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E5E0DF"/>
              </a:buClr>
              <a:buSzPts val="800"/>
              <a:buFont typeface="Roboto"/>
              <a:buNone/>
            </a:pPr>
            <a:r>
              <a:rPr b="0" i="0" lang="en-US" sz="800" u="none" cap="none" strike="noStrike">
                <a:solidFill>
                  <a:srgbClr val="E5E0DF"/>
                </a:solidFill>
                <a:latin typeface="Roboto"/>
                <a:ea typeface="Roboto"/>
                <a:cs typeface="Roboto"/>
                <a:sym typeface="Roboto"/>
              </a:rPr>
              <a:t>Proporcionamos datos y tendencias para dominar el metagame.</a:t>
            </a:r>
            <a:endParaRPr b="0" i="0" sz="800" u="none" cap="none" strike="noStrike">
              <a:solidFill>
                <a:schemeClr val="dk1"/>
              </a:solidFill>
              <a:latin typeface="Calibri"/>
              <a:ea typeface="Calibri"/>
              <a:cs typeface="Calibri"/>
              <a:sym typeface="Calibri"/>
            </a:endParaRPr>
          </a:p>
        </p:txBody>
      </p:sp>
      <p:sp>
        <p:nvSpPr>
          <p:cNvPr id="261" name="Google Shape;261;p13"/>
          <p:cNvSpPr/>
          <p:nvPr/>
        </p:nvSpPr>
        <p:spPr>
          <a:xfrm>
            <a:off x="4611812" y="3121893"/>
            <a:ext cx="4036070" cy="318939"/>
          </a:xfrm>
          <a:prstGeom prst="roundRect">
            <a:avLst>
              <a:gd fmla="val 50000" name="adj"/>
            </a:avLst>
          </a:prstGeom>
          <a:solidFill>
            <a:srgbClr val="40404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2" name="Google Shape;262;p13"/>
          <p:cNvPicPr preferRelativeResize="0"/>
          <p:nvPr/>
        </p:nvPicPr>
        <p:blipFill rotWithShape="1">
          <a:blip r:embed="rId6">
            <a:alphaModFix/>
          </a:blip>
          <a:srcRect b="0" l="0" r="0" t="0"/>
          <a:stretch/>
        </p:blipFill>
        <p:spPr>
          <a:xfrm>
            <a:off x="6550075" y="3201591"/>
            <a:ext cx="159469" cy="159469"/>
          </a:xfrm>
          <a:prstGeom prst="rect">
            <a:avLst/>
          </a:prstGeom>
          <a:noFill/>
          <a:ln>
            <a:noFill/>
          </a:ln>
        </p:spPr>
      </p:pic>
      <p:sp>
        <p:nvSpPr>
          <p:cNvPr id="263" name="Google Shape;263;p13"/>
          <p:cNvSpPr/>
          <p:nvPr/>
        </p:nvSpPr>
        <p:spPr>
          <a:xfrm>
            <a:off x="4718075" y="3520529"/>
            <a:ext cx="3823543" cy="166092"/>
          </a:xfrm>
          <a:prstGeom prst="rect">
            <a:avLst/>
          </a:prstGeom>
          <a:noFill/>
          <a:ln>
            <a:noFill/>
          </a:ln>
        </p:spPr>
        <p:txBody>
          <a:bodyPr anchorCtr="0" anchor="t" bIns="0" lIns="0" spcFirstLastPara="1" rIns="0" wrap="square" tIns="0">
            <a:noAutofit/>
          </a:bodyPr>
          <a:lstStyle/>
          <a:p>
            <a:pPr indent="0" lvl="0" marL="0" marR="0" rtl="0" algn="l">
              <a:lnSpc>
                <a:spcPct val="104000"/>
              </a:lnSpc>
              <a:spcBef>
                <a:spcPts val="0"/>
              </a:spcBef>
              <a:spcAft>
                <a:spcPts val="0"/>
              </a:spcAft>
              <a:buClr>
                <a:srgbClr val="E5E0DF"/>
              </a:buClr>
              <a:buSzPts val="950"/>
              <a:buFont typeface="Roboto Mono Medium"/>
              <a:buNone/>
            </a:pPr>
            <a:r>
              <a:rPr b="0" i="0" lang="en-US" sz="950" u="none" cap="none" strike="noStrike">
                <a:solidFill>
                  <a:srgbClr val="E5E0DF"/>
                </a:solidFill>
                <a:latin typeface="Roboto Mono Medium"/>
                <a:ea typeface="Roboto Mono Medium"/>
                <a:cs typeface="Roboto Mono Medium"/>
                <a:sym typeface="Roboto Mono Medium"/>
              </a:rPr>
              <a:t>Crecimiento Continuo</a:t>
            </a:r>
            <a:endParaRPr b="0" i="0" sz="950" u="none" cap="none" strike="noStrike">
              <a:solidFill>
                <a:schemeClr val="dk1"/>
              </a:solidFill>
              <a:latin typeface="Calibri"/>
              <a:ea typeface="Calibri"/>
              <a:cs typeface="Calibri"/>
              <a:sym typeface="Calibri"/>
            </a:endParaRPr>
          </a:p>
        </p:txBody>
      </p:sp>
      <p:sp>
        <p:nvSpPr>
          <p:cNvPr id="264" name="Google Shape;264;p13"/>
          <p:cNvSpPr/>
          <p:nvPr/>
        </p:nvSpPr>
        <p:spPr>
          <a:xfrm>
            <a:off x="4718075" y="3734395"/>
            <a:ext cx="3823543" cy="148828"/>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E5E0DF"/>
              </a:buClr>
              <a:buSzPts val="800"/>
              <a:buFont typeface="Roboto"/>
              <a:buNone/>
            </a:pPr>
            <a:r>
              <a:rPr b="0" i="0" lang="en-US" sz="800" u="none" cap="none" strike="noStrike">
                <a:solidFill>
                  <a:srgbClr val="E5E0DF"/>
                </a:solidFill>
                <a:latin typeface="Roboto"/>
                <a:ea typeface="Roboto"/>
                <a:cs typeface="Roboto"/>
                <a:sym typeface="Roboto"/>
              </a:rPr>
              <a:t>Comprometidos con la evolución y la adición de nuevas funcionalidades.</a:t>
            </a:r>
            <a:endParaRPr b="0" i="0" sz="800" u="none" cap="none" strike="noStrike">
              <a:solidFill>
                <a:schemeClr val="dk1"/>
              </a:solidFill>
              <a:latin typeface="Calibri"/>
              <a:ea typeface="Calibri"/>
              <a:cs typeface="Calibri"/>
              <a:sym typeface="Calibri"/>
            </a:endParaRPr>
          </a:p>
        </p:txBody>
      </p:sp>
      <p:sp>
        <p:nvSpPr>
          <p:cNvPr id="265" name="Google Shape;265;p13"/>
          <p:cNvSpPr/>
          <p:nvPr/>
        </p:nvSpPr>
        <p:spPr>
          <a:xfrm>
            <a:off x="496119" y="4079156"/>
            <a:ext cx="8151763" cy="502221"/>
          </a:xfrm>
          <a:prstGeom prst="roundRect">
            <a:avLst>
              <a:gd fmla="val 3176" name="adj"/>
            </a:avLst>
          </a:prstGeom>
          <a:solidFill>
            <a:srgbClr val="668000"/>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66" name="Google Shape;266;p13"/>
          <p:cNvPicPr preferRelativeResize="0"/>
          <p:nvPr/>
        </p:nvPicPr>
        <p:blipFill rotWithShape="1">
          <a:blip r:embed="rId7">
            <a:alphaModFix/>
          </a:blip>
          <a:srcRect b="0" l="0" r="0" t="0"/>
          <a:stretch/>
        </p:blipFill>
        <p:spPr>
          <a:xfrm>
            <a:off x="602382" y="4197176"/>
            <a:ext cx="132904" cy="106263"/>
          </a:xfrm>
          <a:prstGeom prst="rect">
            <a:avLst/>
          </a:prstGeom>
          <a:noFill/>
          <a:ln>
            <a:noFill/>
          </a:ln>
        </p:spPr>
      </p:pic>
      <p:sp>
        <p:nvSpPr>
          <p:cNvPr id="267" name="Google Shape;267;p13"/>
          <p:cNvSpPr/>
          <p:nvPr/>
        </p:nvSpPr>
        <p:spPr>
          <a:xfrm>
            <a:off x="841549" y="4185419"/>
            <a:ext cx="7700070" cy="297656"/>
          </a:xfrm>
          <a:prstGeom prst="rect">
            <a:avLst/>
          </a:prstGeom>
          <a:noFill/>
          <a:ln>
            <a:noFill/>
          </a:ln>
        </p:spPr>
        <p:txBody>
          <a:bodyPr anchorCtr="0" anchor="t" bIns="0" lIns="0" spcFirstLastPara="1" rIns="0" wrap="square" tIns="0">
            <a:noAutofit/>
          </a:bodyPr>
          <a:lstStyle/>
          <a:p>
            <a:pPr indent="0" lvl="0" marL="0" marR="0" rtl="0" algn="l">
              <a:lnSpc>
                <a:spcPct val="117000"/>
              </a:lnSpc>
              <a:spcBef>
                <a:spcPts val="0"/>
              </a:spcBef>
              <a:spcAft>
                <a:spcPts val="0"/>
              </a:spcAft>
              <a:buClr>
                <a:srgbClr val="FFFFFF"/>
              </a:buClr>
              <a:buSzPts val="800"/>
              <a:buFont typeface="Roboto"/>
              <a:buNone/>
            </a:pPr>
            <a:r>
              <a:rPr b="0" i="0" lang="en-US" sz="800" u="none" cap="none" strike="noStrike">
                <a:solidFill>
                  <a:srgbClr val="FFFFFF"/>
                </a:solidFill>
                <a:latin typeface="Roboto"/>
                <a:ea typeface="Roboto"/>
                <a:cs typeface="Roboto"/>
                <a:sym typeface="Roboto"/>
              </a:rPr>
              <a:t>Mazos y Leyendas no es solo una plataforma, es un ecosistema diseñado para transformar la forma en que los jugadores interactúan con el universo de los TCG, garantizando una experiencia más informada, estratégica y gratificante.</a:t>
            </a:r>
            <a:endParaRPr b="0" i="0" sz="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